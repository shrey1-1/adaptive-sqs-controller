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135e3fecb243ff" /><Relationship Type="http://schemas.openxmlformats.org/officeDocument/2006/relationships/extended-properties" Target="/docProps/app.xml" Id="R03cb69fc58ef4b25" /><Relationship Type="http://schemas.openxmlformats.org/officeDocument/2006/relationships/officeDocument" Target="/ppt/presentation.xml" Id="Rfebada3270b24b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822bdfc1484b8f"/>
  </p:sldMasterIdLst>
  <p:notesMasterIdLst>
    <p:notesMasterId xmlns:r="http://schemas.openxmlformats.org/officeDocument/2006/relationships" r:id="Rfdc527d16d3b45d6"/>
  </p:notesMasterIdLst>
  <p:sldIdLst>
    <p:sldId xmlns:r="http://schemas.openxmlformats.org/officeDocument/2006/relationships" id="256" r:id="Rb3c324192f9343a4"/>
    <p:sldId xmlns:r="http://schemas.openxmlformats.org/officeDocument/2006/relationships" id="257" r:id="R32ef0cf0054d438f"/>
    <p:sldId xmlns:r="http://schemas.openxmlformats.org/officeDocument/2006/relationships" id="258" r:id="R374dcf7512574e5b"/>
    <p:sldId xmlns:r="http://schemas.openxmlformats.org/officeDocument/2006/relationships" id="259" r:id="R7ebe0e4837254c6e"/>
    <p:sldId xmlns:r="http://schemas.openxmlformats.org/officeDocument/2006/relationships" id="260" r:id="R385886cf17034a3d"/>
    <p:sldId xmlns:r="http://schemas.openxmlformats.org/officeDocument/2006/relationships" id="261" r:id="R3b2c910163f74432"/>
    <p:sldId xmlns:r="http://schemas.openxmlformats.org/officeDocument/2006/relationships" id="262" r:id="R795528518f3b43c7"/>
    <p:sldId xmlns:r="http://schemas.openxmlformats.org/officeDocument/2006/relationships" id="263" r:id="R180056ddb9fe4326"/>
    <p:sldId xmlns:r="http://schemas.openxmlformats.org/officeDocument/2006/relationships" id="264" r:id="R4c9e29603c0549c3"/>
    <p:sldId xmlns:r="http://schemas.openxmlformats.org/officeDocument/2006/relationships" id="265" r:id="R022a0a76a24f4a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eaf19ec7ff4fd6" /><Relationship Type="http://schemas.openxmlformats.org/officeDocument/2006/relationships/slideMaster" Target="/ppt/slideMasters/slideMaster1.xml" Id="Rd2822bdfc1484b8f" /><Relationship Type="http://schemas.openxmlformats.org/officeDocument/2006/relationships/notesMaster" Target="/ppt/notesMasters/notesMaster1.xml" Id="Rfdc527d16d3b45d6" /><Relationship Type="http://schemas.openxmlformats.org/officeDocument/2006/relationships/presProps" Target="/ppt/presProps.xml" Id="Ra047b6c74c8c4d7e" /><Relationship Type="http://schemas.openxmlformats.org/officeDocument/2006/relationships/tableStyles" Target="/ppt/tableStyles.xml" Id="R2ae4bfd1b3514990" /><Relationship Type="http://schemas.openxmlformats.org/officeDocument/2006/relationships/slide" Target="/ppt/slides/slide1.xml" Id="Rb3c324192f9343a4" /><Relationship Type="http://schemas.openxmlformats.org/officeDocument/2006/relationships/slide" Target="/ppt/slides/slide2.xml" Id="R32ef0cf0054d438f" /><Relationship Type="http://schemas.openxmlformats.org/officeDocument/2006/relationships/slide" Target="/ppt/slides/slide3.xml" Id="R374dcf7512574e5b" /><Relationship Type="http://schemas.openxmlformats.org/officeDocument/2006/relationships/slide" Target="/ppt/slides/slide4.xml" Id="R7ebe0e4837254c6e" /><Relationship Type="http://schemas.openxmlformats.org/officeDocument/2006/relationships/slide" Target="/ppt/slides/slide5.xml" Id="R385886cf17034a3d" /><Relationship Type="http://schemas.openxmlformats.org/officeDocument/2006/relationships/slide" Target="/ppt/slides/slide6.xml" Id="R3b2c910163f74432" /><Relationship Type="http://schemas.openxmlformats.org/officeDocument/2006/relationships/slide" Target="/ppt/slides/slide7.xml" Id="R795528518f3b43c7" /><Relationship Type="http://schemas.openxmlformats.org/officeDocument/2006/relationships/slide" Target="/ppt/slides/slide8.xml" Id="R180056ddb9fe4326" /><Relationship Type="http://schemas.openxmlformats.org/officeDocument/2006/relationships/slide" Target="/ppt/slides/slide9.xml" Id="R4c9e29603c0549c3" /><Relationship Type="http://schemas.openxmlformats.org/officeDocument/2006/relationships/slide" Target="/ppt/slides/slide10.xml" Id="R022a0a76a24f4a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72891ef07b49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ae54f61fe84bf8" /><Relationship Type="http://schemas.openxmlformats.org/officeDocument/2006/relationships/notesMaster" Target="/ppt/notesMasters/notesMaster1.xml" Id="R55823ba56a1c46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dbe8528e084951" /><Relationship Type="http://schemas.openxmlformats.org/officeDocument/2006/relationships/notesMaster" Target="/ppt/notesMasters/notesMaster1.xml" Id="Ra9bc362ddd5441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c8c38b724f47db" /><Relationship Type="http://schemas.openxmlformats.org/officeDocument/2006/relationships/notesMaster" Target="/ppt/notesMasters/notesMaster1.xml" Id="R986ea983f5d549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0bf0edbc0e48bb" /><Relationship Type="http://schemas.openxmlformats.org/officeDocument/2006/relationships/notesMaster" Target="/ppt/notesMasters/notesMaster1.xml" Id="R11c6da91f63840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cf71b825e24611" /><Relationship Type="http://schemas.openxmlformats.org/officeDocument/2006/relationships/notesMaster" Target="/ppt/notesMasters/notesMaster1.xml" Id="R93fa590193414c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c4532991a341f2" /><Relationship Type="http://schemas.openxmlformats.org/officeDocument/2006/relationships/notesMaster" Target="/ppt/notesMasters/notesMaster1.xml" Id="R8c915709ccfa43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edf76ae0644838" /><Relationship Type="http://schemas.openxmlformats.org/officeDocument/2006/relationships/notesMaster" Target="/ppt/notesMasters/notesMaster1.xml" Id="R765c46e2f4414a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f22dbd69a7422e" /><Relationship Type="http://schemas.openxmlformats.org/officeDocument/2006/relationships/notesMaster" Target="/ppt/notesMasters/notesMaster1.xml" Id="Rfcdd366520c148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25a2899d9e4fba" /><Relationship Type="http://schemas.openxmlformats.org/officeDocument/2006/relationships/notesMaster" Target="/ppt/notesMasters/notesMaster1.xml" Id="R4ac7159070194b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0423651613445e" /><Relationship Type="http://schemas.openxmlformats.org/officeDocument/2006/relationships/notesMaster" Target="/ppt/notesMasters/notesMaster1.xml" Id="R3b6494b34f514b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7c4b2dff24b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ddd2b1aa074dc2" /><Relationship Type="http://schemas.openxmlformats.org/officeDocument/2006/relationships/slideLayout" Target="/ppt/slideLayouts/slideLayout1.xml" Id="Rd059e864e0114f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59e864e0114f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9ceaf69914175" /><Relationship Type="http://schemas.openxmlformats.org/officeDocument/2006/relationships/notesSlide" Target="/ppt/notesSlides/notesSlide1.xml" Id="Re28acf78f50849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8bbb9bc8448af" /><Relationship Type="http://schemas.openxmlformats.org/officeDocument/2006/relationships/notesSlide" Target="/ppt/notesSlides/notesSlide2.xml" Id="Rc52e29a7859741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00cf6f456439d" /><Relationship Type="http://schemas.openxmlformats.org/officeDocument/2006/relationships/notesSlide" Target="/ppt/notesSlides/notesSlide3.xml" Id="R00300eb4b3fd48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0cced26a3417e" /><Relationship Type="http://schemas.openxmlformats.org/officeDocument/2006/relationships/notesSlide" Target="/ppt/notesSlides/notesSlide4.xml" Id="R13e88f71d04242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3088d77784402" /><Relationship Type="http://schemas.openxmlformats.org/officeDocument/2006/relationships/notesSlide" Target="/ppt/notesSlides/notesSlide5.xml" Id="R11dbc3dd481b4c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6336f0b3b40cf" /><Relationship Type="http://schemas.openxmlformats.org/officeDocument/2006/relationships/notesSlide" Target="/ppt/notesSlides/notesSlide6.xml" Id="Rf48889b0ceab46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371c664dd4858" /><Relationship Type="http://schemas.openxmlformats.org/officeDocument/2006/relationships/notesSlide" Target="/ppt/notesSlides/notesSlide7.xml" Id="R9f32fabed4474b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0095c1f1e4fcb" /><Relationship Type="http://schemas.openxmlformats.org/officeDocument/2006/relationships/notesSlide" Target="/ppt/notesSlides/notesSlide8.xml" Id="Rd350be4e45bc46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47ef674f24f33" /><Relationship Type="http://schemas.openxmlformats.org/officeDocument/2006/relationships/chart" Target="/ppt/slides/charts/chart1.xml" Id="R6bb8e9006f2e42d9" /><Relationship Type="http://schemas.openxmlformats.org/officeDocument/2006/relationships/chart" Target="/ppt/slides/charts/chart2.xml" Id="Rba10b5b644d449a5" /><Relationship Type="http://schemas.openxmlformats.org/officeDocument/2006/relationships/notesSlide" Target="/ppt/notesSlides/notesSlide9.xml" Id="R8158bd4873b445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f48a01cfc433d" /><Relationship Type="http://schemas.openxmlformats.org/officeDocument/2006/relationships/notesSlide" Target="/ppt/notesSlides/notesSlide10.xml" Id="Ref3ac6e0f8b14e2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Adaptive P90</c:v>
          </c:tx>
          <c:spPr>
            <a:solidFill xmlns:a="http://schemas.openxmlformats.org/drawingml/2006/main">
              <a:srgbClr val="149E9A"/>
            </a:solidFill>
          </c:spPr>
          <c:cat>
            <c:strLit>
              <c:ptCount val="3"/>
              <c:pt idx="0">
                <c:v>Mixed / no failure</c:v>
              </c:pt>
              <c:pt idx="1">
                <c:v>Mixed / failures</c:v>
              </c:pt>
              <c:pt idx="2">
                <c:v>Sudden shift</c:v>
              </c:pt>
            </c:strLit>
          </c:cat>
          <c:val>
            <c:numLit>
              <c:formatCode>General</c:formatCode>
              <c:ptCount val="3"/>
              <c:pt idx="0">
                <c:v>0.074</c:v>
              </c:pt>
              <c:pt idx="1">
                <c:v>0.067</c:v>
              </c:pt>
              <c:pt idx="2">
                <c:v>0.102</c:v>
              </c:pt>
            </c:numLit>
          </c:val>
        </c:ser>
        <c:ser>
          <c:idx val="1"/>
          <c:order val="1"/>
          <c:tx>
            <c:v>Fixed per class</c:v>
          </c:tx>
          <c:spPr>
            <a:solidFill xmlns:a="http://schemas.openxmlformats.org/drawingml/2006/main">
              <a:srgbClr val="205493"/>
            </a:solidFill>
          </c:spPr>
          <c:cat>
            <c:strLit>
              <c:ptCount val="3"/>
              <c:pt idx="0">
                <c:v>Mixed / no failure</c:v>
              </c:pt>
              <c:pt idx="1">
                <c:v>Mixed / failures</c:v>
              </c:pt>
              <c:pt idx="2">
                <c:v>Sudden shift</c:v>
              </c:pt>
            </c:strLit>
          </c:cat>
          <c:val>
            <c:numLit>
              <c:formatCode>General</c:formatCode>
              <c:ptCount val="3"/>
              <c:pt idx="0">
                <c:v>0</c:v>
              </c:pt>
              <c:pt idx="1">
                <c:v>0</c:v>
              </c:pt>
              <c:pt idx="2">
                <c:v>0.045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Adaptive P90</c:v>
          </c:tx>
          <c:spPr>
            <a:solidFill xmlns:a="http://schemas.openxmlformats.org/drawingml/2006/main">
              <a:srgbClr val="149E9A"/>
            </a:solidFill>
          </c:spPr>
          <c:cat>
            <c:strLit>
              <c:ptCount val="2"/>
              <c:pt idx="0">
                <c:v>Mixed / failures</c:v>
              </c:pt>
              <c:pt idx="1">
                <c:v>Sudden shift</c:v>
              </c:pt>
            </c:strLit>
          </c:cat>
          <c:val>
            <c:numLit>
              <c:formatCode>General</c:formatCode>
              <c:ptCount val="2"/>
              <c:pt idx="0">
                <c:v>8.394</c:v>
              </c:pt>
              <c:pt idx="1">
                <c:v>8.212</c:v>
              </c:pt>
            </c:numLit>
          </c:val>
        </c:ser>
        <c:ser>
          <c:idx val="1"/>
          <c:order val="1"/>
          <c:tx>
            <c:v>Fixed per class</c:v>
          </c:tx>
          <c:spPr>
            <a:solidFill xmlns:a="http://schemas.openxmlformats.org/drawingml/2006/main">
              <a:srgbClr val="205493"/>
            </a:solidFill>
          </c:spPr>
          <c:cat>
            <c:strLit>
              <c:ptCount val="2"/>
              <c:pt idx="0">
                <c:v>Mixed / failures</c:v>
              </c:pt>
              <c:pt idx="1">
                <c:v>Sudden shift</c:v>
              </c:pt>
            </c:strLit>
          </c:cat>
          <c:val>
            <c:numLit>
              <c:formatCode>General</c:formatCode>
              <c:ptCount val="2"/>
              <c:pt idx="0">
                <c:v>3.446</c:v>
              </c:pt>
              <c:pt idx="1">
                <c:v>10.747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29B94-0D6E-4F73-BE27-5FD9E382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5D3C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5D3CE"/>
                </a:solidFill>
                <a:latin typeface="Aptos"/>
                <a:ea typeface="Aptos"/>
                <a:cs typeface="Aptos"/>
              </a:rPr>
              <a:t>CLOUD ARCHITECTURE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C1B23-115E-4B98-A5D8-D8624620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62050"/>
            <a:ext cx="7239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Adaptive SQS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Visibility Timeout Controller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5EB8F-4445-410B-B96C-6E7B62D1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CE8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8F2"/>
                </a:solidFill>
                <a:latin typeface="Aptos"/>
                <a:ea typeface="Aptos"/>
                <a:cs typeface="Aptos"/>
              </a:rPr>
              <a:t>Dynamic workload-aware optimization of Amazon SQS message visibility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D6119-6E69-49B4-8382-23D643EB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7C8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8D8"/>
                </a:solidFill>
                <a:latin typeface="Aptos"/>
                <a:ea typeface="Aptos"/>
                <a:cs typeface="Aptos"/>
              </a:rPr>
              <a:t>B.Tech Computer Science / Cloud Computing / Distributed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30C65-1673-48D5-86A3-8D4A2D1A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7C8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8D8"/>
                </a:solidFill>
                <a:latin typeface="Aptos"/>
                <a:ea typeface="Aptos"/>
                <a:cs typeface="Aptos"/>
              </a:rPr>
              <a:t>Team members: [Add names]</a:t>
            </a:r>
          </a:p>
          <a:p xmlns:a="http://schemas.openxmlformats.org/drawingml/2006/main">
            <a:pPr>
              <a:defRPr sz="1050" b="0">
                <a:solidFill>
                  <a:srgbClr val="B7C8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8D8"/>
                </a:solidFill>
                <a:latin typeface="Aptos"/>
                <a:ea typeface="Aptos"/>
                <a:cs typeface="Aptos"/>
              </a:rPr>
              <a:t>Guide / Department / Institution: [Add details]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B9667-5550-410E-8BB6-515B9D09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61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3B5D"/>
          </a:solidFill>
          <a:ln xmlns:a="http://schemas.openxmlformats.org/drawingml/2006/main" w="14288">
            <a:solidFill>
              <a:srgbClr val="4D789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712BF-B125-4D6C-B507-987A48DC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2435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8A3A"/>
          </a:solidFill>
          <a:ln xmlns:a="http://schemas.openxmlformats.org/drawingml/2006/main" w="0">
            <a:solidFill>
              <a:srgbClr val="E68A3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0E592-4B84-4135-B119-84554DD0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95750"/>
            <a:ext cx="161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3B5D"/>
          </a:solidFill>
          <a:ln xmlns:a="http://schemas.openxmlformats.org/drawingml/2006/main" w="14288">
            <a:solidFill>
              <a:srgbClr val="4D789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SQS 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592DA-A2CD-42FB-8F1F-658A6BD1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2435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8A3A"/>
          </a:solidFill>
          <a:ln xmlns:a="http://schemas.openxmlformats.org/drawingml/2006/main" w="0">
            <a:solidFill>
              <a:srgbClr val="E68A3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52F39-D7D5-417E-A5E3-1863A0C5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161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9E9A"/>
          </a:solidFill>
          <a:ln xmlns:a="http://schemas.openxmlformats.org/drawingml/2006/main" w="14288">
            <a:solidFill>
              <a:srgbClr val="4D789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Adaptive</a:t>
            </a:r>
          </a:p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ED760-31A5-484E-80B3-AAE1C8D3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8A3A"/>
          </a:solidFill>
          <a:ln xmlns:a="http://schemas.openxmlformats.org/drawingml/2006/main" w="0">
            <a:solidFill>
              <a:srgbClr val="E68A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A107D-2A96-44BC-82D9-7FCECA2F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95750"/>
            <a:ext cx="161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3B5D"/>
          </a:solidFill>
          <a:ln xmlns:a="http://schemas.openxmlformats.org/drawingml/2006/main" w="14288">
            <a:solidFill>
              <a:srgbClr val="4D789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Worker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4DE08-69E6-49DC-8CCA-306C9C96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2435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8A3A"/>
          </a:solidFill>
          <a:ln xmlns:a="http://schemas.openxmlformats.org/drawingml/2006/main" w="0">
            <a:solidFill>
              <a:srgbClr val="E68A3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3F0941-8FF5-4B45-8A96-481A739A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161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3B5D"/>
          </a:solidFill>
          <a:ln xmlns:a="http://schemas.openxmlformats.org/drawingml/2006/main" w="14288">
            <a:solidFill>
              <a:srgbClr val="4D789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Processing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F0CF6-33E2-427E-BC2F-CACFDB08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BCSE355L • Project overview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D11EB4-C509-4F6F-9402-22C0646C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439803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F7872A-7DE1-4203-92DB-6B97A903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FCF37-F09C-44DC-ACE6-1AACE185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Why visibility timeout choice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4A519-2DBF-4512-98B1-EF4A8272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A3A"/>
          </a:solidFill>
          <a:ln xmlns:a="http://schemas.openxmlformats.org/drawingml/2006/main" w="0">
            <a:solidFill>
              <a:srgbClr val="E68A3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93BCA-ED6B-4EDF-A57D-4E1319BA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 fixed timeout has to serve jobs whose processing times may be very different.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6D423-0838-45BD-8CB8-A87F640C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90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Message received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60BE6-D217-4FC8-9B6B-025C85B3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Processing continues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F082D-3399-40C5-8E8A-585A0442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Visibility expires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9F429-F405-4DEC-8788-3FB8FD07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62250"/>
            <a:ext cx="85725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0549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DE490-FBCE-4723-B5E7-C43D10A5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0" cy="5905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E68A3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9D93E-DD5C-4CD2-B76D-8A7DF858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0" cy="5905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94C4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A1D6B-E5BD-45CB-9842-9FB96754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3143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14288">
            <a:solidFill>
              <a:srgbClr val="E68A3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94C4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94C4C"/>
                </a:solidFill>
                <a:latin typeface="Aptos"/>
                <a:ea typeface="Aptos"/>
                <a:cs typeface="Aptos"/>
              </a:rPr>
              <a:t>Too short</a:t>
            </a:r>
          </a:p>
          <a:p xmlns:a="http://schemas.openxmlformats.org/drawingml/2006/main">
            <a:pPr>
              <a:defRPr sz="1650" b="1">
                <a:solidFill>
                  <a:srgbClr val="C94C4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94C4C"/>
                </a:solidFill>
                <a:latin typeface="Aptos"/>
                <a:ea typeface="Aptos"/>
                <a:cs typeface="Aptos"/>
              </a:rPr>
              <a:t>Duplicate processing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C6C7B-837E-4A64-88BB-7A44E5E8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3143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4288">
            <a:solidFill>
              <a:srgbClr val="E68A3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A5A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A5A00"/>
                </a:solidFill>
                <a:latin typeface="Aptos"/>
                <a:ea typeface="Aptos"/>
                <a:cs typeface="Aptos"/>
              </a:rPr>
              <a:t>Too long</a:t>
            </a:r>
          </a:p>
          <a:p xmlns:a="http://schemas.openxmlformats.org/drawingml/2006/main">
            <a:pPr>
              <a:defRPr sz="1650" b="1">
                <a:solidFill>
                  <a:srgbClr val="8A5A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A5A00"/>
                </a:solidFill>
                <a:latin typeface="Aptos"/>
                <a:ea typeface="Aptos"/>
                <a:cs typeface="Aptos"/>
              </a:rPr>
              <a:t>Delayed retry after failure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3C3B98-4251-4BD8-A83E-F9EEAD97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24250"/>
            <a:ext cx="3143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14288">
            <a:solidFill>
              <a:srgbClr val="149E9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Research question</a:t>
            </a:r>
          </a:p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Can workload-aware timeouts balance both?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873258-1167-4869-A816-355C6CB0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863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Problem statement: design an adaptive controller that chooses an appropriate SQS visibility timeout from workload and processing-time characteristics.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E2F0C-8D17-4C66-A3F4-248A8CEA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Adaptive SQS Visibility Timeout Controller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AB9EBA-C6BB-4DB8-B183-E02B0A10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456520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1933E-8A97-4959-9F90-EA3E9F88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EXISTING APPROACH AND PROPOSED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CDD5B-5DA4-4239-92F4-D49FC03B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Fixed timeout versus adaptive timeout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C1245-4394-434A-9750-223EB33A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A3A"/>
          </a:solidFill>
          <a:ln xmlns:a="http://schemas.openxmlformats.org/drawingml/2006/main" w="0">
            <a:solidFill>
              <a:srgbClr val="E68A3A"/>
            </a:solidFill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10858500" cy="3476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19500"/>
                <a:gridCol w="3619500"/>
                <a:gridCol w="3619500"/>
              </a:tblGrid>
              <a:tr h="49666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Dimension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Fixed timeout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Adaptive controller</a:t>
                      </a:r>
                    </a:p>
                  </a:txBody>
                  <a:tcPr marL="91440" marR="91440" marT="45720" marB="45720">
                    <a:solidFill>
                      <a:srgbClr val="149E9A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F33"/>
                          </a:solidFill>
                          <a:latin typeface="Aptos"/>
                          <a:ea typeface="Aptos"/>
                          <a:cs typeface="Aptos"/>
                        </a:rPr>
                        <a:t>Configuration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B"/>
                          </a:solidFill>
                          <a:latin typeface="Aptos"/>
                          <a:ea typeface="Aptos"/>
                          <a:cs typeface="Aptos"/>
                        </a:rPr>
                        <a:t>One manually chosen value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B"/>
                          </a:solidFill>
                          <a:latin typeface="Aptos"/>
                          <a:ea typeface="Aptos"/>
                          <a:cs typeface="Aptos"/>
                        </a:rPr>
                        <a:t>Calculated per job class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F33"/>
                          </a:solidFill>
                          <a:latin typeface="Aptos"/>
                          <a:ea typeface="Aptos"/>
                          <a:cs typeface="Aptos"/>
                        </a:rPr>
                        <a:t>Workload variation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B"/>
                          </a:solidFill>
                          <a:latin typeface="Aptos"/>
                          <a:ea typeface="Aptos"/>
                          <a:cs typeface="Aptos"/>
                        </a:rPr>
                        <a:t>Ignored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B"/>
                          </a:solidFill>
                          <a:latin typeface="Aptos"/>
                          <a:ea typeface="Aptos"/>
                          <a:cs typeface="Aptos"/>
                        </a:rPr>
                        <a:t>Learned from recent durations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F33"/>
                          </a:solidFill>
                          <a:latin typeface="Aptos"/>
                          <a:ea typeface="Aptos"/>
                          <a:cs typeface="Aptos"/>
                        </a:rPr>
                        <a:t>Timeout risk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B"/>
                          </a:solidFill>
                          <a:latin typeface="Aptos"/>
                          <a:ea typeface="Aptos"/>
                          <a:cs typeface="Aptos"/>
                        </a:rPr>
                        <a:t>Too short or too long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B"/>
                          </a:solidFill>
                          <a:latin typeface="Aptos"/>
                          <a:ea typeface="Aptos"/>
                          <a:cs typeface="Aptos"/>
                        </a:rPr>
                        <a:t>Bounded P90 plus margin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F33"/>
                          </a:solidFill>
                          <a:latin typeface="Aptos"/>
                          <a:ea typeface="Aptos"/>
                          <a:cs typeface="Aptos"/>
                        </a:rPr>
                        <a:t>Workload shift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B"/>
                          </a:solidFill>
                          <a:latin typeface="Aptos"/>
                          <a:ea typeface="Aptos"/>
                          <a:cs typeface="Aptos"/>
                        </a:rPr>
                        <a:t>Requires retuning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B"/>
                          </a:solidFill>
                          <a:latin typeface="Aptos"/>
                          <a:ea typeface="Aptos"/>
                          <a:cs typeface="Aptos"/>
                        </a:rPr>
                        <a:t>Updates through feedback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F33"/>
                          </a:solidFill>
                          <a:latin typeface="Aptos"/>
                          <a:ea typeface="Aptos"/>
                          <a:cs typeface="Aptos"/>
                        </a:rPr>
                        <a:t>Failure recovery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B"/>
                          </a:solidFill>
                          <a:latin typeface="Aptos"/>
                          <a:ea typeface="Aptos"/>
                          <a:cs typeface="Aptos"/>
                        </a:rPr>
                        <a:t>May be delayed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B"/>
                          </a:solidFill>
                          <a:latin typeface="Aptos"/>
                          <a:ea typeface="Aptos"/>
                          <a:cs typeface="Aptos"/>
                        </a:rPr>
                        <a:t>Balanced against duplicate risk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F33"/>
                          </a:solidFill>
                          <a:latin typeface="Aptos"/>
                          <a:ea typeface="Aptos"/>
                          <a:cs typeface="Aptos"/>
                        </a:rPr>
                        <a:t>Operational effort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B"/>
                          </a:solidFill>
                          <a:latin typeface="Aptos"/>
                          <a:ea typeface="Aptos"/>
                          <a:cs typeface="Aptos"/>
                        </a:rPr>
                        <a:t>Manual tuning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B"/>
                          </a:solidFill>
                          <a:latin typeface="Aptos"/>
                          <a:ea typeface="Aptos"/>
                          <a:cs typeface="Aptos"/>
                        </a:rPr>
                        <a:t>Telemetry-driven tuning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17EC3-24CE-46C1-B6A1-961A43A8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Fixed:  Message A ── 30s   Message B ── 30s   Message C ── 30s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73BAA-8FFF-4E6F-891F-3861B4C5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Adaptive:  A ── 12s     B ───── 28s     C ───────── 45s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ECB33-C54B-47C6-89C6-25DD4233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Adaptive SQS Visibility Timeout Controller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85A1B-793E-4248-8FB8-30B7C0AC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870154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9519EA-6639-4EE1-864C-5346F35A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NOVELTY AND KEY CONTRIBUTIONS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FB182-0928-4A2B-81AE-AD94EA85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The contribution is the control policy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EE626-245B-4764-BA46-D2843D08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A3A"/>
          </a:solidFill>
          <a:ln xmlns:a="http://schemas.openxmlformats.org/drawingml/2006/main" w="0">
            <a:solidFill>
              <a:srgbClr val="E68A3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9EC00-6E4B-4F0C-BA87-81BD7820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The project does not modify SQS. It adds an external controller that uses SQS APIs and processing telemetry.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AB333-713E-4BB5-B4D5-6C83C7AF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E9A"/>
          </a:solidFill>
          <a:ln xmlns:a="http://schemas.openxmlformats.org/drawingml/2006/main" w="14288">
            <a:solidFill>
              <a:srgbClr val="149E9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302E2-E935-48A4-99B4-76A7BDEB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335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Workload-aware adaptation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EA4C7-676D-4836-871F-E8DEBAD1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2764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Separate histories for different job classes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935EB-A780-437D-B7B8-25BF6EB9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E9A"/>
          </a:solidFill>
          <a:ln xmlns:a="http://schemas.openxmlformats.org/drawingml/2006/main" w="14288">
            <a:solidFill>
              <a:srgbClr val="149E9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4B63E-5F74-4A71-B5C6-A7BF0B0C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1718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Interpretable prediction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296D3-5DFC-4646-B5CC-5890DD39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5147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Rolling P90 instead of an opaque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78FF3-8024-4DCB-939F-DF60D3DD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291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E9A"/>
          </a:solidFill>
          <a:ln xmlns:a="http://schemas.openxmlformats.org/drawingml/2006/main" w="14288">
            <a:solidFill>
              <a:srgbClr val="149E9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886C7-3F36-40ED-A257-D9404E48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4100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Dynamic safety margin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20BFA-2FE2-4B3D-8618-DDE84640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7529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P90 + configurable protection against variability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D9B714-80DD-489E-A826-E851622C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E9A"/>
          </a:solidFill>
          <a:ln xmlns:a="http://schemas.openxmlformats.org/drawingml/2006/main" w="14288">
            <a:solidFill>
              <a:srgbClr val="149E9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289CEA-C64A-4348-A5E1-A406BA05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9335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Closed-loop 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14D4E-F7FA-43CD-BCB9-4002B2BA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2764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Successful processing updates future decisions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5376D-7BAE-4A51-88D0-C966B518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90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E9A"/>
          </a:solidFill>
          <a:ln xmlns:a="http://schemas.openxmlformats.org/drawingml/2006/main" w="14288">
            <a:solidFill>
              <a:srgbClr val="149E9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5FA148-30AA-454A-993A-801BB397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1718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Bounded recovery 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5E34AE-BC9A-4027-AB35-177FBFCF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5147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Extensions have count and time caps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339DD3-CE06-4EC0-8488-0D0240B5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291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E9A"/>
          </a:solidFill>
          <a:ln xmlns:a="http://schemas.openxmlformats.org/drawingml/2006/main" w="14288">
            <a:solidFill>
              <a:srgbClr val="149E9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7F29DC-E302-48D5-A28B-DD26BE01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4100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Trade-off evaluation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F99E1F-FDE3-48F9-92D0-9DD3F34C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529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Duplicates and recovery are measured together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F118C4-1AE4-4E8A-A2F1-A32C1728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4288">
            <a:solidFill>
              <a:srgbClr val="0B1F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Novelty = prediction + workload awareness + feedback + bounded safety margin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F5D559-D70A-4861-9255-B3856008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Adaptive SQS Visibility Timeout Controller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329784-99CB-4A34-ABED-07A0262A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39679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651F07-CDA3-4B34-B959-92B80C50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51D69-4872-40AE-8103-514CC5AE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Closed-loop 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F4F30-201E-40E8-90EC-949287FA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A3A"/>
          </a:solidFill>
          <a:ln xmlns:a="http://schemas.openxmlformats.org/drawingml/2006/main" w="0">
            <a:solidFill>
              <a:srgbClr val="E68A3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CD43B-5557-48A7-8237-E8C1C64F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Producer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5ECC5-22B8-426E-8691-E0F2D21F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895475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5493"/>
          </a:solidFill>
          <a:ln xmlns:a="http://schemas.openxmlformats.org/drawingml/2006/main" w="0">
            <a:solidFill>
              <a:srgbClr val="20549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C079D-2475-407B-977A-4E486586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0549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SQS queue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B1118-D428-4A06-B178-EB294926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895475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5493"/>
          </a:solidFill>
          <a:ln xmlns:a="http://schemas.openxmlformats.org/drawingml/2006/main" w="0">
            <a:solidFill>
              <a:srgbClr val="20549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2BA15-415E-42DD-AA64-3BB9012A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Worker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C3D7B-E2D1-4014-AED8-9F284643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95475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5493"/>
          </a:solidFill>
          <a:ln xmlns:a="http://schemas.openxmlformats.org/drawingml/2006/main" w="0">
            <a:solidFill>
              <a:srgbClr val="20549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5881F-1D05-4959-97EC-DD3ED7BF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66875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Processing</a:t>
            </a:r>
          </a:p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monitor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D1AD5-A3DB-46B7-B564-C58C2E65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809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Metrics +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B89C0-829F-4E66-8B48-BE7F8123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6720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8A3A"/>
          </a:solidFill>
          <a:ln xmlns:a="http://schemas.openxmlformats.org/drawingml/2006/main" w="0">
            <a:solidFill>
              <a:srgbClr val="E68A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E3163-8332-44B7-957E-BEACC644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00500"/>
            <a:ext cx="1809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Processing-time</a:t>
            </a:r>
          </a:p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predictor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8E5E9-7D28-4356-B48E-AAA0B132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6720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8A3A"/>
          </a:solidFill>
          <a:ln xmlns:a="http://schemas.openxmlformats.org/drawingml/2006/main" w="0">
            <a:solidFill>
              <a:srgbClr val="E68A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B9C63-D3E5-48B1-9AF9-8BA23CE9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1809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14288">
            <a:solidFill>
              <a:srgbClr val="149E9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Decision engine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D281D-85C4-46E0-90E1-DE637F90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6720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8A3A"/>
          </a:solidFill>
          <a:ln xmlns:a="http://schemas.openxmlformats.org/drawingml/2006/main" w="0">
            <a:solidFill>
              <a:srgbClr val="E68A3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21EC5-3200-4284-B713-2161C3B0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1809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ChangeMessageVisibility</a:t>
            </a:r>
          </a:p>
          <a:p xmlns:a="http://schemas.openxmlformats.org/drawingml/2006/main">
            <a:pPr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8CD87-7FF3-435C-9922-EB34B758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228600" cy="952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68A3A"/>
          </a:solidFill>
          <a:ln xmlns:a="http://schemas.openxmlformats.org/drawingml/2006/main" w="0">
            <a:solidFill>
              <a:srgbClr val="E68A3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3EDD51-7040-414D-9F06-6EEE7E23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432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68A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68A3A"/>
                </a:solidFill>
                <a:latin typeface="Aptos"/>
                <a:ea typeface="Aptos"/>
                <a:cs typeface="Aptos"/>
              </a:rPr>
              <a:t>Processing result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CA8691-3915-4C23-86BF-003B4CA6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382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49E9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2CA109-C3CE-4C9F-929C-521D3C2C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43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Feedback loop: result → history → prediction → new timeout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4F63B7-F314-4875-A31D-287F8A2E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The controller operates outside SQS and changes visibility through the standard API.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A253DC-142C-4578-BFA7-192C8B07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Adaptive SQS Visibility Timeout Controller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0BCC58-9C24-485D-9258-86651CEA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722143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B20DDB-266F-43D6-9F9B-1C859E04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4A5E6-17CB-4920-A023-5B5D9665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From message arrival to controller feedback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AD59B-EC3D-4C07-BEEB-B28AF4C6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A3A"/>
          </a:solidFill>
          <a:ln xmlns:a="http://schemas.openxmlformats.org/drawingml/2006/main" w="0">
            <a:solidFill>
              <a:srgbClr val="E68A3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3093A-090B-49B7-A90E-8E152EC6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52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549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1  Receive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9F2FC-3A3E-46E8-AAB2-2850C79E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5265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8A3A"/>
          </a:solidFill>
          <a:ln xmlns:a="http://schemas.openxmlformats.org/drawingml/2006/main" w="0">
            <a:solidFill>
              <a:srgbClr val="E68A3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7FA8D-61C0-454C-9E85-60DAD671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905000"/>
            <a:ext cx="152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549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2  Measure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B6000-EEA0-4FDC-8754-58709BC3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15265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8A3A"/>
          </a:solidFill>
          <a:ln xmlns:a="http://schemas.openxmlformats.org/drawingml/2006/main" w="0">
            <a:solidFill>
              <a:srgbClr val="E68A3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17E6E-0E30-4378-A7F6-2577095E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152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549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3  Predict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9DFD0-F81C-4B91-A742-59A3E785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5265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8A3A"/>
          </a:solidFill>
          <a:ln xmlns:a="http://schemas.openxmlformats.org/drawingml/2006/main" w="0">
            <a:solidFill>
              <a:srgbClr val="E68A3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3D59B-E252-4C8A-A58E-DD96EF5C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05000"/>
            <a:ext cx="152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9E9A"/>
          </a:solidFill>
          <a:ln xmlns:a="http://schemas.openxmlformats.org/drawingml/2006/main" w="14288">
            <a:solidFill>
              <a:srgbClr val="149E9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  Assign timeout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4DFEE-1C7B-407A-8229-FA3980DB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15265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8A3A"/>
          </a:solidFill>
          <a:ln xmlns:a="http://schemas.openxmlformats.org/drawingml/2006/main" w="0">
            <a:solidFill>
              <a:srgbClr val="E68A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C17F5-20B3-43FB-9835-8CACE730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152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549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5 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7DA05-A726-4C1F-9FB9-A5AE47D8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5265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8A3A"/>
          </a:solidFill>
          <a:ln xmlns:a="http://schemas.openxmlformats.org/drawingml/2006/main" w="0">
            <a:solidFill>
              <a:srgbClr val="E68A3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4D084-2095-462E-9243-96021C42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905000"/>
            <a:ext cx="152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549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6  Record 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11C52B-C31D-4474-8274-16E41FE9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Worker receives</a:t>
            </a:r>
          </a:p>
          <a:p xmlns:a="http://schemas.openxmlformats.org/drawingml/2006/main">
            <a:pPr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 message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C0F271-E19E-49A2-BAA8-11406BC5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05125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Record type,</a:t>
            </a:r>
          </a:p>
          <a:p xmlns:a="http://schemas.openxmlformats.org/drawingml/2006/main">
            <a:pPr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start, duration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FF9F44-CEF4-4C31-B66D-AC856963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05125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Rolling P90</a:t>
            </a:r>
          </a:p>
          <a:p xmlns:a="http://schemas.openxmlformats.org/drawingml/2006/main">
            <a:pPr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per class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8520E7-017E-44F3-BAAD-AA3C1BC0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05125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Clamp P90 +</a:t>
            </a:r>
          </a:p>
          <a:p xmlns:a="http://schemas.openxmlformats.org/drawingml/2006/main">
            <a:pPr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safety margin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D37C9D-D63F-48A7-9AAB-84CADE20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Delete or</a:t>
            </a:r>
          </a:p>
          <a:p xmlns:a="http://schemas.openxmlformats.org/drawingml/2006/main">
            <a:pPr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redeliver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BF75E7-FE9F-4FB6-876C-AE28D9EF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905125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Update history</a:t>
            </a:r>
          </a:p>
          <a:p xmlns:a="http://schemas.openxmlformats.org/drawingml/2006/main">
            <a:pPr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and metrics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BA4AEE-4F15-46D5-8A09-1D7CA0CF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33875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0549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Experiment controls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28FB8A-385B-43FA-A9D3-22533E53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95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seed • workload • workers • failure probability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5CD4AC-1412-46BB-99AF-A6092714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3429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4288">
            <a:solidFill>
              <a:srgbClr val="0B1F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Same generated workload</a:t>
            </a:r>
          </a:p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 every policy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A48AA3-6758-43E6-AFCD-A6BC2A65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Adaptive SQS Visibility Timeout Controller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21592E-F57C-4BB1-AFAE-8C1C771D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532819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0902A7-B5D7-42AF-B602-2E127A5C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ALGORITHM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E118C-5B1D-4020-A581-2B27D992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Adaptive percentile decision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F1370-2F67-416B-A822-9466A6A0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A3A"/>
          </a:solidFill>
          <a:ln xmlns:a="http://schemas.openxmlformats.org/drawingml/2006/main" w="0">
            <a:solidFill>
              <a:srgbClr val="E68A3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FC05A-4108-4107-AE54-BBCF6FEB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For job class c, keep the latest W successful processing durations.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3D692-517A-48FA-9E10-A1B2F0E8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4288">
            <a:solidFill>
              <a:srgbClr val="0B1F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 = min(Tmax, max(Tmin, P90(historyc) + safety_margin))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31732-2346-4979-8DF2-F1D09E7F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480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8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68A3A"/>
                </a:solidFill>
                <a:latin typeface="Aptos"/>
                <a:ea typeface="Aptos"/>
                <a:cs typeface="Aptos"/>
              </a:rPr>
              <a:t>Cold start: use default_timeout until the class has enough history.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6F99F-0600-4D08-AE56-C710B5CE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62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055E6-B814-449E-9548-C9270500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6237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receive message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5DFB7-5754-4CC4-A207-46E88AAE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243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D9848-9E33-4289-B603-D71B2AD0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2432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history ← recent successful durations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FC563-55EB-451E-98B6-F7E61A25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86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3D95F-E8CE-4E90-8A58-A55F2219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8627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prediction ← percentile(history, 90)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E9F8C-E200-4EFB-9F8C-4211CCBA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48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941FB-EABE-4D86-B5FF-13A32A30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4822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timeout ← clamp(prediction + margin, Tmin, Tmax)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7BFDC-8317-4A99-BB06-55B360F7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101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F8232-E63B-4E2F-B632-0FEB0603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017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process; delete on success or wait for redelivery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E478C8-2CED-4BA5-8850-5119E845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721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95CE10-7671-416D-B1BB-7F8FC76F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record metrics and update history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E3D222-5F29-44D6-B7C6-EA4A2B11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2952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14288">
            <a:solidFill>
              <a:srgbClr val="149E9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Why P90?</a:t>
            </a:r>
          </a:p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Interpretable protection for most jobs without using an extreme worst case.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40105B-2B51-4194-86C7-27C5582A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Adaptive SQS Visibility Timeout Controller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140D2D-5FF2-40D2-ABD2-E20A8E9A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69696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11AD21-8234-45D2-88B4-DDA528E4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5340C-4945-4C2F-92F0-50D74A11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Implementation and experimental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83260-7530-4C47-951E-8191E4EC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A3A"/>
          </a:solidFill>
          <a:ln xmlns:a="http://schemas.openxmlformats.org/drawingml/2006/main" w="0">
            <a:solidFill>
              <a:srgbClr val="E68A3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3E558-7AD3-4AB6-A265-19D444D8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Simulator-first design keeps the study runnable on a standard Google Colab CPU runtime.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F9AEA-E1E5-41A7-8FB4-551F9AA0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0549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Python</a:t>
            </a:r>
          </a:p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Discrete-event simulator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586EB-AA03-453B-9ACD-2719E50F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0025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14288">
            <a:solidFill>
              <a:srgbClr val="149E9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NumPy + Pandas</a:t>
            </a:r>
          </a:p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Seeded workloads and metrics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E6420-85F9-42A5-A3D7-B7063F11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4288">
            <a:solidFill>
              <a:srgbClr val="E68A3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Boto3 adapter</a:t>
            </a:r>
          </a:p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Optional small AWS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19B38-8C60-4A7C-BE9C-2F164BB4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ECF8"/>
          </a:solidFill>
          <a:ln xmlns:a="http://schemas.openxmlformats.org/drawingml/2006/main" w="14288">
            <a:solidFill>
              <a:srgbClr val="8B6FB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CSV + HTML + PNG</a:t>
            </a:r>
          </a:p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Evidence for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7F329-532F-4A52-AD90-8A043E89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Workload matrix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512C3-6388-4643-9511-23F22255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A83D3-6B3B-46EB-896B-FF77A62D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Stable mostly-short jobs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4F420-9CD1-4043-B333-9E5179E9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CB1B9E-6A33-403B-A151-E4E18197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960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Mixed and heavy-tailed durations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E4AAC5-0329-4F08-ABA8-25EA4E91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B3E9F-7CA8-4DEB-9885-B0EDA076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4345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Bursty and sudden-shift arrivals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1ED1B8-0BBF-4C83-9293-C52592C3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3043E-1359-4910-9CCB-BB4AB572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6730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No, low, medium, and high failures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11E879-6D78-4D21-97C7-61F226FA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Evidence produced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35E5D4-EDE6-4501-9CF6-A8C5849D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0CFEC4-7E91-41D8-93E6-143962CA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95750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Attempt-level metrics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85458-07FA-4365-A51C-5EEE206B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48C3B-8A2A-4BA6-9DD0-73D4362A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19600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Repeated seeds with mean, SD, CI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47895D-9EBC-4ABC-AAAC-7832C659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9A363F-D683-4297-B160-D41B7897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43450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Ten evaluation plots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CBD952-6E35-4F73-92D4-78F0B110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AD56C1-3FD0-4EAA-A3E0-F0CD88B7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67300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Readme, methodology, limitations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0594AA-0059-43CA-A8FE-78FFCEBC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8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68A3A"/>
                </a:solidFill>
                <a:latin typeface="Aptos"/>
                <a:ea typeface="Aptos"/>
                <a:cs typeface="Aptos"/>
              </a:rPr>
              <a:t>AWS use is optional. No credentials or chargeable resources are required for the core study.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D0C683-FFAD-40F8-94E4-5D0FB689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Adaptive SQS Visibility Timeout Controller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99A9E9-2D88-4699-B2E7-7036AA84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937821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11F1D-CC9C-4762-80F4-4C4CDB55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5C849-A40A-4813-B20D-4F7AB17F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Smoke experiment: adaptive trade-offs are measurable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5BA27-6EBC-4C9B-ACBC-F581AF9A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A3A"/>
          </a:solidFill>
          <a:ln xmlns:a="http://schemas.openxmlformats.org/drawingml/2006/main" w="0">
            <a:solidFill>
              <a:srgbClr val="E68A3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C0835-2783-44D9-85BB-0C2F8C6B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Actual simulator results • 36 runs • 3 scenarios • 2 seeds • 6 policies • 2,268 attempts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519112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b8e9006f2e42d9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334125" y="1809750"/>
          <a:ext xmlns:a="http://schemas.openxmlformats.org/drawingml/2006/main" cx="519112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10b5b644d449a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8A362-80F4-41B0-B025-DE148053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76875"/>
            <a:ext cx="8572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4288">
            <a:solidFill>
              <a:srgbClr val="0B1F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Interpretation</a:t>
            </a:r>
          </a:p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Adaptive P90 did not dominate. It recovered faster after the shift, but the static class policy produced fewer duplicates in this smoke run.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424AA-868C-40C7-90CF-12560FD4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Simulation results • not a real AWS benchmark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3032A-E72A-4238-8AC1-5B9D7ED8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025995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122338-C0A6-4F3F-8909-22D19728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2204F-1D86-40C0-BB7A-F485B8C9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Conclusion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539BD-802D-4091-80D9-87A31F52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A3A"/>
          </a:solidFill>
          <a:ln xmlns:a="http://schemas.openxmlformats.org/drawingml/2006/main" w="0">
            <a:solidFill>
              <a:srgbClr val="E68A3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BCC62-0FC3-4686-BD2F-F7906237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B6573"/>
                </a:solidFill>
                <a:latin typeface="Aptos"/>
                <a:ea typeface="Aptos"/>
                <a:cs typeface="Aptos"/>
              </a:rPr>
              <a:t>Fixed timeout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8B7EE-EFCE-4176-BB7A-62C54938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81175"/>
            <a:ext cx="762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8A3A"/>
          </a:solidFill>
          <a:ln xmlns:a="http://schemas.openxmlformats.org/drawingml/2006/main" w="0">
            <a:solidFill>
              <a:srgbClr val="E68A3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B82C7-2434-42DB-BABA-3B7AFA04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Adaptive, workload-aware timeout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741FB-0B04-4D71-9E67-484A4653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The project shows how an external controller can balance duplicate processing against failure-recovery delay using a transparent statistical policy.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4DF26-B5B2-42BA-B1EF-8AE99A1B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Key contribution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329F5-AFDD-4FD9-8E26-8D098731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5287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1853A-5E9C-43B1-B1CD-2CC7A85A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52875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Workload-aware P90 prediction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370EF5-BAB8-43B2-B495-194F32CA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529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B31EC-9C26-4063-9E34-4F14319B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52925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Dynamic safety margin and bounded extensions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19653-0056-400C-9A59-634DDF1A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5297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9677B5-745C-455C-92A5-0CF64389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52975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Reproducible comparison under failures and shifts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07A4A-D68E-4221-BD6A-720F7D8C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24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Future scope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E330A-13E8-4947-8BAF-55B1BD9B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5287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12417-A9A7-483C-BFCB-9AD66AB5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52875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EWMA and streaming quantile comparisons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DFA2AD-6EC5-455B-8B1E-38CCA87D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9577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E6D70C-2676-4873-A8AC-91BF01A7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95775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Real AWS validation with a test queue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C3BAA2-E22B-45F7-8E97-EA6E1B13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3867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B5C583-2E62-45FF-BF3F-3136EE8F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38675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Cost-aware optimization and autoscaling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FD1852-B861-4152-B25E-A452177B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8157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E9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9E9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C49F68-E828-4AA9-B419-D06BC175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81575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Worker-specific prediction and anomaly detection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79AFEF-9D7F-4DB5-A935-D73057C7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9334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4288">
            <a:solidFill>
              <a:srgbClr val="0B1F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Instead of asking what the timeout should always be, ask what it should be for the workload happening now.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679CAC-E4A4-45FA-81D4-58A93E9B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Adaptive SQS Visibility Timeout Controller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372868-FA40-452B-A608-E0BC9F8A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82042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2026-10-05T03:18:49.0930000Z</dcterms:created>
  <dcterms:modified xsi:type="dcterms:W3CDTF">2026-10-05T03:18:49.0930000Z</dcterms:modified>
</coreProperties>
</file>