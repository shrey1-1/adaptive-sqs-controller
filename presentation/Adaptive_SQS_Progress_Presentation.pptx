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1e0fa76-b46e-fab6-de67-a885879719c4}">
          <p14:sldIdLst>
            <p14:sldId id="256"/>
            <p14:sldId id="257"/>
            <p14:sldId id="258"/>
          </p14:sldIdLst>
        </p14:section>
        <p14:section name="Approach" id="{01247397-6986-24d6-38b1-c20032a6663c}">
          <p14:sldIdLst>
            <p14:sldId id="259"/>
            <p14:sldId id="260"/>
          </p14:sldIdLst>
        </p14:section>
        <p14:section name="Progress and results" id="{43f49db2-eaeb-ff4a-7d63-8add3779c0f4}">
          <p14:sldIdLst>
            <p14:sldId id="261"/>
            <p14:sldId id="262"/>
            <p14:sldId id="263"/>
          </p14:sldIdLst>
        </p14:section>
        <p14:section name="Next steps" id="{c2f54a3f-299f-3d53-e21a-abfa11a4b7b7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3C49"/>
                </a:solidFill>
                <a:latin typeface="+mn-lt"/>
              </a:rPr>
              <a:t>Trade-off cost in realistic scenarios (s per job, 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Fixed heartbeat</c:v>
                </c:pt>
              </c:strCache>
            </c:strRef>
          </c:tx>
          <c:spPr>
            <a:solidFill>
              <a:srgbClr val="5C7C8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Mixed</c:v>
                  </c:pt>
                  <c:pt idx="1">
                    <c:v>Mixed + hangs</c:v>
                  </c:pt>
                  <c:pt idx="2">
                    <c:v>Poison</c:v>
                  </c:pt>
                  <c:pt idx="3">
                    <c:v>Shift</c:v>
                  </c:pt>
                  <c:pt idx="4">
                    <c:v>Heavy-tailed + hangs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0.987</c:v>
                </c:pt>
                <c:pt idx="1">
                  <c:v>2.118</c:v>
                </c:pt>
                <c:pt idx="2">
                  <c:v>1.294</c:v>
                </c:pt>
                <c:pt idx="3">
                  <c:v>0.359</c:v>
                </c:pt>
                <c:pt idx="4">
                  <c:v>2.31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Adaptive heartbeat (dynamic)</c:v>
                </c:pt>
              </c:strCache>
            </c:strRef>
          </c:tx>
          <c:spPr>
            <a:solidFill>
              <a:srgbClr val="1380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Mixed</c:v>
                  </c:pt>
                  <c:pt idx="1">
                    <c:v>Mixed + hangs</c:v>
                  </c:pt>
                  <c:pt idx="2">
                    <c:v>Poison</c:v>
                  </c:pt>
                  <c:pt idx="3">
                    <c:v>Shift</c:v>
                  </c:pt>
                  <c:pt idx="4">
                    <c:v>Heavy-tailed + hangs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0.383</c:v>
                </c:pt>
                <c:pt idx="1">
                  <c:v>1.084</c:v>
                </c:pt>
                <c:pt idx="2">
                  <c:v>0.594</c:v>
                </c:pt>
                <c:pt idx="3">
                  <c:v>0.216</c:v>
                </c:pt>
                <c:pt idx="4">
                  <c:v>2.536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C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C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idea: SQS hides a received message for a fixed time, and picking that time is a trade-off. This project builds controllers that pick it per job type from observed processing times, and evaluates them rigorously in a verified simulator. The highlighted box is the contribution: the controller sits outside SQS and only uses standard SQS API calls. Fill in the team, guide and institution placeholders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what is documented from what we measured. The top-left bullets are standard SQS behaviour from the AWS developer guide. The two numbers at the bottom are our own simulation results, not field data: 20.6% duplicates for a pre-tuned static timeout after a sudden doubling of job durations, and 23% of healthy jobs dead-lettered by a 3-second timeout at maxReceiveCount = 2. Likely question: is this a real problem? Answer: the trade-off is inherent in SQS semantics; how large it is in a given system depends on its workload, which is why we test several workload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controllers form a ladder; each adds one idea to the previous one, so its effect can be measured alone. The highlighted heartbeat controller ended up the best all-round policy. Be careful with novelty claims: individual techniques (percentiles, heartbeats, conformal prediction, Page-Hinkley change detection) are known; the contribution is applying them to SQS visibility control and measuring them honestly. Likely question: why not machine learning? A per-class quantile is cheap, explainable and already close to the trade-off frontier in our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along the top row: a seeded workload enters the simulator; the policy chooses each message's lease and learns from completed durations (the two-way arrow); each run produces metrics; paired statistics test declared hypotheses; reports are generated. The bottom row is the path to real AWS. The harness is complete and tested against an in-memory fake queue; the real run is in progress only because it needs an AWS account and a test queue. The worker library is planned, not started. Likely question: why a simulator rather than AWS directly? It makes 7,060 runs reproducible in about five minutes at no cost, and it is verified against closed-form counts and the Erlang C queueing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ordinary Python with NumPy and Pandas; there is no ML framework. The statistics are implemented directly, so the project has no SciPy dependency. The code snippet is the cost-aware rule: if a crash happens with probability p, and a second of recovery delay costs r times a second of duplicated overrun, the expected cost is minimised at quantile 1 - p r / (1 - p). With r = 1 and p = 8% that is 0.91, which explains why P90 works well. Likely question: how is correctness ensured? 98 unit tests, including seven that check the simulator against hand-derived counts and the Erlang C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items with code, tests and results in the repository are marked completed. Each phase is a git commit, so this is auditable. The real-SQS run is the only in-progress item; it is blocked on an AWS account and test queue, not on code. Likely question: what did Phase 1 fix? A worker could be wasted on a stale message copy, and in one case a waiting job was never processed; plus every policy now faces identical crash draws, which makes comparisons paired.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compares the strongest simple baseline, fixed heartbeat, with the best adaptive policy across five realistic scenarios. Trade-off cost is seconds of duplicated work plus seconds of recovery delay per job. Adaptive wins four of five; heavy-tailed jobs with hung workers is the honest exception, 2.54 versus 2.31. How results are judged: each claim was written in the config and committed to git before the run, tested with a paired Wilcoxon test over 20 seeds, and Holm-corrected across all 18. The largest adjusted p-value is 0.012. The dead-letter number: per-class timeouts, whether learned or carefully pre-tuned, avoid wrongful dead-lettering; a single short value does not. Likely question: are H1-H4 really predictions? No; they re-test findings already seen and are labelled post hoc. H5-H18 were declared before their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column: findings supported by declared, corrected tests. Right column: what the evidence does not show. The heavy-tail result is the most important negative: with Pareto-distributed job times, any budget short enough to reclaim a hung job quickly also cuts off healthy long jobs. We tried a cost-aware budget and it landed on the same curve, so this is a trade-off frontier rather than a bug. Objectives status: the primary objective is met in simulation for mixed and shifting workloads; it is not met for heavy-tailed workloads with hung workers; real-world validation is pending. Likely question: what was a negative result you kept? The relative margin, change detection on the heartbeat policy, and the cost-aware heartbeat budget all failed to help and are reported.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is the only thing between the project and real-world evidence: the code, safety checks and a step-by-step checklist are in docs/aws_replication.md. It never creates or deletes queues, refuses a non-empty queue, and the request count is far inside the SQS free tier. Steps 2 and 3 strengthen the statistics and the theory; step 4 turns the heavy-tail negative result into practical guidance; step 5 is optional engineering. Likely question: what if the real run disagrees with the simulator? That is a finding to report; the comparison table is built for exactly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trade-off, the ladder of controllers, and the strongest evidence: declared hypotheses, paired seeds, realism. Be explicit that the results are from simulation and that the real-SQS replication is the next milestone. Likely closing question: what would you deploy today? Adaptive heartbeat with a dynamic budget for mixed or shifting workloads; a fixed heartbeat for heavy-tailed jobs where hung workers are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Adaptive SQS Visibility Timeout Controller  ·  Progress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Adaptive SQS Visibility Timeout Controller</a:t>
            </a:r>
            <a:endParaRPr lang="en-US" sz="40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32004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Choosing how long a queue hides a message, per job type, from what the workers observe</a:t>
            </a:r>
            <a:endParaRPr lang="en-US" sz="1800" dirty="0"/>
          </a:p>
        </p:txBody>
      </p:sp>
      <p:sp>
        <p:nvSpPr>
          <p:cNvPr id="4" name="Objective"/>
          <p:cNvSpPr txBox="1"/>
          <p:nvPr/>
        </p:nvSpPr>
        <p:spPr>
          <a:xfrm>
            <a:off x="640080" y="40690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Objective: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cut duplicate processing without slowing recovery from worker failures, compared with fixed SQS visibility timeouts.</a:t>
            </a:r>
            <a:endParaRPr lang="en-US" sz="1500" dirty="0"/>
          </a:p>
        </p:txBody>
      </p:sp>
      <p:sp>
        <p:nvSpPr>
          <p:cNvPr id="5" name="Team placeholders"/>
          <p:cNvSpPr txBox="1"/>
          <p:nvPr/>
        </p:nvSpPr>
        <p:spPr>
          <a:xfrm>
            <a:off x="640080" y="51206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Team members: [Add names]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Guide: [Add guide 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Department / Institution: [Add details]  ·  BCSE355L</a:t>
            </a:r>
            <a:endParaRPr lang="en-US" sz="1300" dirty="0"/>
          </a:p>
        </p:txBody>
      </p:sp>
      <p:sp>
        <p:nvSpPr>
          <p:cNvPr id="6" name="Pipeline Producer circle"/>
          <p:cNvSpPr/>
          <p:nvPr/>
        </p:nvSpPr>
        <p:spPr>
          <a:xfrm>
            <a:off x="8549640" y="109728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Pipeline Produc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6178" y="1283818"/>
            <a:ext cx="404165" cy="404165"/>
          </a:xfrm>
          <a:prstGeom prst="rect">
            <a:avLst/>
          </a:prstGeom>
        </p:spPr>
      </p:pic>
      <p:sp>
        <p:nvSpPr>
          <p:cNvPr id="8" name="Pipeline label Producer"/>
          <p:cNvSpPr txBox="1"/>
          <p:nvPr/>
        </p:nvSpPr>
        <p:spPr>
          <a:xfrm>
            <a:off x="9464040" y="1261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Producer</a:t>
            </a:r>
            <a:endParaRPr lang="en-US" sz="1600" dirty="0"/>
          </a:p>
        </p:txBody>
      </p:sp>
      <p:sp>
        <p:nvSpPr>
          <p:cNvPr id="9" name="Pipeline arrow 0"/>
          <p:cNvSpPr/>
          <p:nvPr/>
        </p:nvSpPr>
        <p:spPr>
          <a:xfrm>
            <a:off x="8938260" y="192024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Pipeline SQS queue circle"/>
          <p:cNvSpPr/>
          <p:nvPr/>
        </p:nvSpPr>
        <p:spPr>
          <a:xfrm>
            <a:off x="8549640" y="23317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Pipeline SQS queu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6178" y="2518258"/>
            <a:ext cx="404165" cy="404165"/>
          </a:xfrm>
          <a:prstGeom prst="rect">
            <a:avLst/>
          </a:prstGeom>
        </p:spPr>
      </p:pic>
      <p:sp>
        <p:nvSpPr>
          <p:cNvPr id="12" name="Pipeline label SQS queue"/>
          <p:cNvSpPr txBox="1"/>
          <p:nvPr/>
        </p:nvSpPr>
        <p:spPr>
          <a:xfrm>
            <a:off x="9464040" y="2496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SQS queue</a:t>
            </a:r>
            <a:endParaRPr lang="en-US" sz="1600" dirty="0"/>
          </a:p>
        </p:txBody>
      </p:sp>
      <p:sp>
        <p:nvSpPr>
          <p:cNvPr id="13" name="Pipeline arrow 1"/>
          <p:cNvSpPr/>
          <p:nvPr/>
        </p:nvSpPr>
        <p:spPr>
          <a:xfrm>
            <a:off x="8938260" y="315468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Pipeline Adaptive controller circle"/>
          <p:cNvSpPr/>
          <p:nvPr/>
        </p:nvSpPr>
        <p:spPr>
          <a:xfrm>
            <a:off x="8549640" y="35661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Pipeline Adaptive controll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178" y="3752698"/>
            <a:ext cx="404165" cy="404165"/>
          </a:xfrm>
          <a:prstGeom prst="rect">
            <a:avLst/>
          </a:prstGeom>
        </p:spPr>
      </p:pic>
      <p:sp>
        <p:nvSpPr>
          <p:cNvPr id="16" name="Pipeline label Adaptive controller"/>
          <p:cNvSpPr txBox="1"/>
          <p:nvPr/>
        </p:nvSpPr>
        <p:spPr>
          <a:xfrm>
            <a:off x="9464040" y="3730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Adaptive controller</a:t>
            </a:r>
            <a:endParaRPr lang="en-US" sz="1600" dirty="0"/>
          </a:p>
        </p:txBody>
      </p:sp>
      <p:sp>
        <p:nvSpPr>
          <p:cNvPr id="17" name="Pipeline arrow 2"/>
          <p:cNvSpPr/>
          <p:nvPr/>
        </p:nvSpPr>
        <p:spPr>
          <a:xfrm>
            <a:off x="8938260" y="438912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Pipeline Workers circle"/>
          <p:cNvSpPr/>
          <p:nvPr/>
        </p:nvSpPr>
        <p:spPr>
          <a:xfrm>
            <a:off x="8549640" y="48006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Pipeline Worker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6178" y="4987138"/>
            <a:ext cx="404165" cy="404165"/>
          </a:xfrm>
          <a:prstGeom prst="rect">
            <a:avLst/>
          </a:prstGeom>
        </p:spPr>
      </p:pic>
      <p:sp>
        <p:nvSpPr>
          <p:cNvPr id="20" name="Pipeline label Workers"/>
          <p:cNvSpPr txBox="1"/>
          <p:nvPr/>
        </p:nvSpPr>
        <p:spPr>
          <a:xfrm>
            <a:off x="9464040" y="49651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Workers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timeout value, two opposite ways to be wrong</a:t>
            </a:r>
            <a:endParaRPr lang="en-US" sz="3200" dirty="0"/>
          </a:p>
        </p:txBody>
      </p:sp>
      <p:sp>
        <p:nvSpPr>
          <p:cNvPr id="3" name="Docs heading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How SQS works (documented behaviour)</a:t>
            </a:r>
            <a:endParaRPr lang="en-US" sz="1800" dirty="0"/>
          </a:p>
        </p:txBody>
      </p:sp>
      <p:sp>
        <p:nvSpPr>
          <p:cNvPr id="4" name="Docs bullets"/>
          <p:cNvSpPr txBox="1"/>
          <p:nvPr/>
        </p:nvSpPr>
        <p:spPr>
          <a:xfrm>
            <a:off x="548640" y="169164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received message is hidden for the visibility timeout; if it is not deleted in time, SQS delivers it again.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Workers can extend the timeout while they work (ChangeMessageVisibility).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After maxReceiveCount deliveries, a redrive policy moves the message to a dead-letter queue.</a:t>
            </a:r>
            <a:endParaRPr lang="en-US" sz="1500" dirty="0"/>
          </a:p>
        </p:txBody>
      </p:sp>
      <p:sp>
        <p:nvSpPr>
          <p:cNvPr id="5" name="Docs source"/>
          <p:cNvSpPr txBox="1"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Amazon SQS Developer Guide (visibility timeout; dead-letter queues).</a:t>
            </a:r>
            <a:endParaRPr lang="en-US" sz="1000" dirty="0"/>
          </a:p>
        </p:txBody>
      </p:sp>
      <p:sp>
        <p:nvSpPr>
          <p:cNvPr id="6" name="Too short card"/>
          <p:cNvSpPr/>
          <p:nvPr/>
        </p:nvSpPr>
        <p:spPr>
          <a:xfrm>
            <a:off x="6400800" y="1280160"/>
            <a:ext cx="52120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33">
                <a:alpha val="12000"/>
              </a:srgbClr>
            </a:outerShdw>
          </a:effectLst>
        </p:spPr>
      </p:sp>
      <p:sp>
        <p:nvSpPr>
          <p:cNvPr id="7" name="Too short circle"/>
          <p:cNvSpPr/>
          <p:nvPr/>
        </p:nvSpPr>
        <p:spPr>
          <a:xfrm>
            <a:off x="6629400" y="160020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Too shor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4965" y="1775765"/>
            <a:ext cx="380390" cy="380390"/>
          </a:xfrm>
          <a:prstGeom prst="rect">
            <a:avLst/>
          </a:prstGeom>
        </p:spPr>
      </p:pic>
      <p:sp>
        <p:nvSpPr>
          <p:cNvPr id="9" name="Too short text"/>
          <p:cNvSpPr txBox="1"/>
          <p:nvPr/>
        </p:nvSpPr>
        <p:spPr>
          <a:xfrm>
            <a:off x="7543800" y="137160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Too short: duplicate work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job outlives its lease, so a second worker starts the same job.</a:t>
            </a:r>
            <a:endParaRPr lang="en-US" sz="1700" dirty="0"/>
          </a:p>
        </p:txBody>
      </p:sp>
      <p:sp>
        <p:nvSpPr>
          <p:cNvPr id="10" name="Too long card"/>
          <p:cNvSpPr/>
          <p:nvPr/>
        </p:nvSpPr>
        <p:spPr>
          <a:xfrm>
            <a:off x="6400800" y="2880360"/>
            <a:ext cx="52120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33">
                <a:alpha val="12000"/>
              </a:srgbClr>
            </a:outerShdw>
          </a:effectLst>
        </p:spPr>
      </p:sp>
      <p:sp>
        <p:nvSpPr>
          <p:cNvPr id="11" name="Too long circle"/>
          <p:cNvSpPr/>
          <p:nvPr/>
        </p:nvSpPr>
        <p:spPr>
          <a:xfrm>
            <a:off x="6629400" y="32004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Too lo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965" y="3375965"/>
            <a:ext cx="380390" cy="380390"/>
          </a:xfrm>
          <a:prstGeom prst="rect">
            <a:avLst/>
          </a:prstGeom>
        </p:spPr>
      </p:pic>
      <p:sp>
        <p:nvSpPr>
          <p:cNvPr id="13" name="Too long text"/>
          <p:cNvSpPr txBox="1"/>
          <p:nvPr/>
        </p:nvSpPr>
        <p:spPr>
          <a:xfrm>
            <a:off x="7543800" y="297180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Too long: slow recovery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After a worker crash, nothing happens until the lease expires.</a:t>
            </a:r>
            <a:endParaRPr lang="en-US" sz="1700" dirty="0"/>
          </a:p>
        </p:txBody>
      </p:sp>
      <p:sp>
        <p:nvSpPr>
          <p:cNvPr id="14" name="Motivation heading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Why one value cannot fit</a:t>
            </a:r>
            <a:endParaRPr lang="en-US" sz="1800" dirty="0"/>
          </a:p>
        </p:txBody>
      </p:sp>
      <p:sp>
        <p:nvSpPr>
          <p:cNvPr id="15" name="Motivation bullets"/>
          <p:cNvSpPr txBox="1"/>
          <p:nvPr/>
        </p:nvSpPr>
        <p:spPr>
          <a:xfrm>
            <a:off x="548640" y="461772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Real queues mix short and long job types, and their durations shift over time.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fixed value tuned once goes stale: in our simulation, a pre-tuned timeout had 20.6% duplicate processing after durations doubled.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Short fixed timeouts can push healthy slow jobs into the dead-letter queue (up to 23% in our sweep).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Learn the timeout per job type, and measure every idea</a:t>
            </a:r>
            <a:endParaRPr lang="en-US" sz="3200" dirty="0"/>
          </a:p>
        </p:txBody>
      </p:sp>
      <p:sp>
        <p:nvSpPr>
          <p:cNvPr id="3" name="Objectives heading"/>
          <p:cNvSpPr txBox="1"/>
          <p:nvPr/>
        </p:nvSpPr>
        <p:spPr>
          <a:xfrm>
            <a:off x="54864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4" name="Objectives bullets"/>
          <p:cNvSpPr txBox="1"/>
          <p:nvPr/>
        </p:nvSpPr>
        <p:spPr>
          <a:xfrm>
            <a:off x="548640" y="16916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Primary: fewer duplicates without slower failure recovery than fixed timeouts.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Build a reproducible, verified simulator of SQS leases, failures and redelivery.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Compare against fair baselines with paired statistics.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Keep every rule interpretable (no opaque model).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Prepare a small real-SQS validation.</a:t>
            </a:r>
            <a:endParaRPr lang="en-US" sz="1500" dirty="0"/>
          </a:p>
        </p:txBody>
      </p:sp>
      <p:sp>
        <p:nvSpPr>
          <p:cNvPr id="5" name="Ideas heading"/>
          <p:cNvSpPr txBox="1"/>
          <p:nvPr/>
        </p:nvSpPr>
        <p:spPr>
          <a:xfrm>
            <a:off x="5760720" y="1280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Proposed controllers (each adds one idea)</a:t>
            </a:r>
            <a:endParaRPr lang="en-US" sz="1800" dirty="0"/>
          </a:p>
        </p:txBody>
      </p:sp>
      <p:sp>
        <p:nvSpPr>
          <p:cNvPr id="6" name="Idea Per-class learned lease circle"/>
          <p:cNvSpPr/>
          <p:nvPr/>
        </p:nvSpPr>
        <p:spPr>
          <a:xfrm>
            <a:off x="5760720" y="1719072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dea Per-class learned lea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3615" y="1841967"/>
            <a:ext cx="266273" cy="266273"/>
          </a:xfrm>
          <a:prstGeom prst="rect">
            <a:avLst/>
          </a:prstGeom>
        </p:spPr>
      </p:pic>
      <p:sp>
        <p:nvSpPr>
          <p:cNvPr id="8" name="Idea text Per-class learned lease"/>
          <p:cNvSpPr txBox="1"/>
          <p:nvPr/>
        </p:nvSpPr>
        <p:spPr>
          <a:xfrm>
            <a:off x="6446520" y="1655064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Per-class learned lease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Timeout = recent P90 of that job type + margin</a:t>
            </a:r>
            <a:endParaRPr lang="en-US" sz="1500" dirty="0"/>
          </a:p>
        </p:txBody>
      </p:sp>
      <p:sp>
        <p:nvSpPr>
          <p:cNvPr id="9" name="Idea Adaptive heartbeat circle"/>
          <p:cNvSpPr/>
          <p:nvPr/>
        </p:nvSpPr>
        <p:spPr>
          <a:xfrm>
            <a:off x="5760720" y="2377440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dea Adaptive heartbea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15" y="2500335"/>
            <a:ext cx="266273" cy="266273"/>
          </a:xfrm>
          <a:prstGeom prst="rect">
            <a:avLst/>
          </a:prstGeom>
        </p:spPr>
      </p:pic>
      <p:sp>
        <p:nvSpPr>
          <p:cNvPr id="11" name="Idea text Adaptive heartbeat"/>
          <p:cNvSpPr txBox="1"/>
          <p:nvPr/>
        </p:nvSpPr>
        <p:spPr>
          <a:xfrm>
            <a:off x="6446520" y="231343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Adaptive heartbeat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Short lease renewed while working; per-class budget for stuck workers</a:t>
            </a:r>
            <a:endParaRPr lang="en-US" sz="1500" dirty="0"/>
          </a:p>
        </p:txBody>
      </p:sp>
      <p:sp>
        <p:nvSpPr>
          <p:cNvPr id="12" name="Idea Cost-aware percentile circle"/>
          <p:cNvSpPr/>
          <p:nvPr/>
        </p:nvSpPr>
        <p:spPr>
          <a:xfrm>
            <a:off x="5760720" y="30358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dea Cost-aware percentil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615" y="3158703"/>
            <a:ext cx="266273" cy="266273"/>
          </a:xfrm>
          <a:prstGeom prst="rect">
            <a:avLst/>
          </a:prstGeom>
        </p:spPr>
      </p:pic>
      <p:sp>
        <p:nvSpPr>
          <p:cNvPr id="14" name="Idea text Cost-aware percentile"/>
          <p:cNvSpPr txBox="1"/>
          <p:nvPr/>
        </p:nvSpPr>
        <p:spPr>
          <a:xfrm>
            <a:off x="6446520" y="297180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Cost-aware percentile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Percentile chosen from the observed crash rate</a:t>
            </a:r>
            <a:endParaRPr lang="en-US" sz="1500" dirty="0"/>
          </a:p>
        </p:txBody>
      </p:sp>
      <p:sp>
        <p:nvSpPr>
          <p:cNvPr id="15" name="Idea Conformal timeout circle"/>
          <p:cNvSpPr/>
          <p:nvPr/>
        </p:nvSpPr>
        <p:spPr>
          <a:xfrm>
            <a:off x="5760720" y="3694176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dea Conformal timeou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615" y="3817071"/>
            <a:ext cx="266273" cy="266273"/>
          </a:xfrm>
          <a:prstGeom prst="rect">
            <a:avLst/>
          </a:prstGeom>
        </p:spPr>
      </p:pic>
      <p:sp>
        <p:nvSpPr>
          <p:cNvPr id="17" name="Idea text Conformal timeout"/>
          <p:cNvSpPr txBox="1"/>
          <p:nvPr/>
        </p:nvSpPr>
        <p:spPr>
          <a:xfrm>
            <a:off x="6446520" y="3630168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Conformal timeout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Rank-based quantile with a 90% coverage guarantee</a:t>
            </a:r>
            <a:endParaRPr lang="en-US" sz="1500" dirty="0"/>
          </a:p>
        </p:txBody>
      </p:sp>
      <p:sp>
        <p:nvSpPr>
          <p:cNvPr id="18" name="Idea Change detection circle"/>
          <p:cNvSpPr/>
          <p:nvPr/>
        </p:nvSpPr>
        <p:spPr>
          <a:xfrm>
            <a:off x="5760720" y="4352544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dea Change detectio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615" y="4475439"/>
            <a:ext cx="266273" cy="266273"/>
          </a:xfrm>
          <a:prstGeom prst="rect">
            <a:avLst/>
          </a:prstGeom>
        </p:spPr>
      </p:pic>
      <p:sp>
        <p:nvSpPr>
          <p:cNvPr id="20" name="Idea text Change detection"/>
          <p:cNvSpPr txBox="1"/>
          <p:nvPr/>
        </p:nvSpPr>
        <p:spPr>
          <a:xfrm>
            <a:off x="6446520" y="4288536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Change detection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Forgets old history when durations shift</a:t>
            </a:r>
            <a:endParaRPr lang="en-US" sz="1500" dirty="0"/>
          </a:p>
        </p:txBody>
      </p:sp>
      <p:sp>
        <p:nvSpPr>
          <p:cNvPr id="21" name="Contribution card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33">
                <a:alpha val="12000"/>
              </a:srgbClr>
            </a:outerShdw>
          </a:effectLst>
        </p:spPr>
      </p:sp>
      <p:sp>
        <p:nvSpPr>
          <p:cNvPr id="22" name="Contribution text"/>
          <p:cNvSpPr txBox="1"/>
          <p:nvPr/>
        </p:nvSpPr>
        <p:spPr>
          <a:xfrm>
            <a:off x="777240" y="5120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Intended contribution: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 a new queue, but interpretable timeout-control rules plus an evaluation discipline (verified simulator, declared hypotheses, paired seeds) that shows exactly where each rule helps and where it does not.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Architecture: a verified simulator drives the controllers</a:t>
            </a:r>
            <a:endParaRPr lang="en-US" sz="3200" dirty="0"/>
          </a:p>
        </p:txBody>
      </p:sp>
      <p:sp>
        <p:nvSpPr>
          <p:cNvPr id="3" name="Workload"/>
          <p:cNvSpPr/>
          <p:nvPr/>
        </p:nvSpPr>
        <p:spPr>
          <a:xfrm>
            <a:off x="548640" y="160020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Workload text"/>
          <p:cNvSpPr txBox="1"/>
          <p:nvPr/>
        </p:nvSpPr>
        <p:spPr>
          <a:xfrm>
            <a:off x="640080" y="1600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Workload generator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seeded job types, shifts, poison</a:t>
            </a:r>
            <a:endParaRPr lang="en-US" sz="1400" dirty="0"/>
          </a:p>
        </p:txBody>
      </p:sp>
      <p:sp>
        <p:nvSpPr>
          <p:cNvPr id="5" name="Simulator"/>
          <p:cNvSpPr/>
          <p:nvPr/>
        </p:nvSpPr>
        <p:spPr>
          <a:xfrm>
            <a:off x="3108960" y="1417320"/>
            <a:ext cx="2743200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Simulator text"/>
          <p:cNvSpPr txBox="1"/>
          <p:nvPr/>
        </p:nvSpPr>
        <p:spPr>
          <a:xfrm>
            <a:off x="3200400" y="141732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Discrete-event SQS simulator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leases, heartbeats, crashes, hangs, DLQ, latency, outages</a:t>
            </a:r>
            <a:endParaRPr lang="en-US" sz="1400" dirty="0"/>
          </a:p>
        </p:txBody>
      </p:sp>
      <p:sp>
        <p:nvSpPr>
          <p:cNvPr id="7" name="Policies"/>
          <p:cNvSpPr/>
          <p:nvPr/>
        </p:nvSpPr>
        <p:spPr>
          <a:xfrm>
            <a:off x="3108960" y="3429000"/>
            <a:ext cx="274320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Policies text"/>
          <p:cNvSpPr txBox="1"/>
          <p:nvPr/>
        </p:nvSpPr>
        <p:spPr>
          <a:xfrm>
            <a:off x="3200400" y="34290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Timeout policies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fixed, adaptive, heartbeat</a:t>
            </a:r>
            <a:endParaRPr lang="en-US" sz="1400" dirty="0"/>
          </a:p>
        </p:txBody>
      </p:sp>
      <p:sp>
        <p:nvSpPr>
          <p:cNvPr id="9" name="Metrics"/>
          <p:cNvSpPr/>
          <p:nvPr/>
        </p:nvSpPr>
        <p:spPr>
          <a:xfrm>
            <a:off x="6309360" y="160020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Metrics text"/>
          <p:cNvSpPr txBox="1"/>
          <p:nvPr/>
        </p:nvSpPr>
        <p:spPr>
          <a:xfrm>
            <a:off x="6400800" y="1600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Metrics per run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duplicates, recovery, latency, DLQ</a:t>
            </a:r>
            <a:endParaRPr lang="en-US" sz="1400" dirty="0"/>
          </a:p>
        </p:txBody>
      </p:sp>
      <p:sp>
        <p:nvSpPr>
          <p:cNvPr id="11" name="Stats"/>
          <p:cNvSpPr/>
          <p:nvPr/>
        </p:nvSpPr>
        <p:spPr>
          <a:xfrm>
            <a:off x="8869680" y="1600200"/>
            <a:ext cx="274320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Stats text"/>
          <p:cNvSpPr txBox="1"/>
          <p:nvPr/>
        </p:nvSpPr>
        <p:spPr>
          <a:xfrm>
            <a:off x="8961120" y="16002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Paired statistics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Wilcoxon, Holm, declared hypotheses</a:t>
            </a:r>
            <a:endParaRPr lang="en-US" sz="1400" dirty="0"/>
          </a:p>
        </p:txBody>
      </p:sp>
      <p:sp>
        <p:nvSpPr>
          <p:cNvPr id="13" name="Reports"/>
          <p:cNvSpPr/>
          <p:nvPr/>
        </p:nvSpPr>
        <p:spPr>
          <a:xfrm>
            <a:off x="8869680" y="3429000"/>
            <a:ext cx="274320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Reports text"/>
          <p:cNvSpPr txBox="1"/>
          <p:nvPr/>
        </p:nvSpPr>
        <p:spPr>
          <a:xfrm>
            <a:off x="8961120" y="34290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Reports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CSV, 12 plots, HTML report</a:t>
            </a:r>
            <a:endParaRPr lang="en-US" sz="1400" dirty="0"/>
          </a:p>
        </p:txBody>
      </p:sp>
      <p:sp>
        <p:nvSpPr>
          <p:cNvPr id="15" name="Arrow workload-sim"/>
          <p:cNvSpPr/>
          <p:nvPr/>
        </p:nvSpPr>
        <p:spPr>
          <a:xfrm>
            <a:off x="2651760" y="2121408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Arrow sim-metrics"/>
          <p:cNvSpPr/>
          <p:nvPr/>
        </p:nvSpPr>
        <p:spPr>
          <a:xfrm>
            <a:off x="5852160" y="2121408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Arrow metrics-stats"/>
          <p:cNvSpPr/>
          <p:nvPr/>
        </p:nvSpPr>
        <p:spPr>
          <a:xfrm>
            <a:off x="8412480" y="2121408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Arrow stats-reports"/>
          <p:cNvSpPr/>
          <p:nvPr/>
        </p:nvSpPr>
        <p:spPr>
          <a:xfrm>
            <a:off x="10241280" y="2651760"/>
            <a:ext cx="0" cy="7772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Arrow sim-policies"/>
          <p:cNvSpPr/>
          <p:nvPr/>
        </p:nvSpPr>
        <p:spPr>
          <a:xfrm>
            <a:off x="4023360" y="2834640"/>
            <a:ext cx="0" cy="59436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triangle"/>
            <a:tailEnd type="triangle"/>
          </a:ln>
        </p:spPr>
      </p:sp>
      <p:sp>
        <p:nvSpPr>
          <p:cNvPr id="20" name="Feedback label"/>
          <p:cNvSpPr txBox="1"/>
          <p:nvPr/>
        </p:nvSpPr>
        <p:spPr>
          <a:xfrm>
            <a:off x="416052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lease decision / observed durations</a:t>
            </a:r>
            <a:endParaRPr lang="en-US" sz="1100" dirty="0"/>
          </a:p>
        </p:txBody>
      </p:sp>
      <p:sp>
        <p:nvSpPr>
          <p:cNvPr id="21" name="Harness"/>
          <p:cNvSpPr/>
          <p:nvPr/>
        </p:nvSpPr>
        <p:spPr>
          <a:xfrm>
            <a:off x="548640" y="5029200"/>
            <a:ext cx="329184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Harness text"/>
          <p:cNvSpPr txBox="1"/>
          <p:nvPr/>
        </p:nvSpPr>
        <p:spPr>
          <a:xfrm>
            <a:off x="640080" y="50292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Replication harness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same jobs and policies on a real queue; tested on a fake queue</a:t>
            </a:r>
            <a:endParaRPr lang="en-US" sz="1400" dirty="0"/>
          </a:p>
        </p:txBody>
      </p:sp>
      <p:sp>
        <p:nvSpPr>
          <p:cNvPr id="23" name="AWS run"/>
          <p:cNvSpPr/>
          <p:nvPr/>
        </p:nvSpPr>
        <p:spPr>
          <a:xfrm>
            <a:off x="4480560" y="5029200"/>
            <a:ext cx="329184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4" name="AWS run text"/>
          <p:cNvSpPr txBox="1"/>
          <p:nvPr/>
        </p:nvSpPr>
        <p:spPr>
          <a:xfrm>
            <a:off x="4572000" y="50292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Real SQS test queue run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needs an AWS account and queue</a:t>
            </a:r>
            <a:endParaRPr lang="en-US" sz="1400" dirty="0"/>
          </a:p>
        </p:txBody>
      </p:sp>
      <p:sp>
        <p:nvSpPr>
          <p:cNvPr id="25" name="Library"/>
          <p:cNvSpPr/>
          <p:nvPr/>
        </p:nvSpPr>
        <p:spPr>
          <a:xfrm>
            <a:off x="8412480" y="5029200"/>
            <a:ext cx="320040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26" name="Library text"/>
          <p:cNvSpPr txBox="1"/>
          <p:nvPr/>
        </p:nvSpPr>
        <p:spPr>
          <a:xfrm>
            <a:off x="8503920" y="50292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Worker library + DynamoDB ledger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production packaging</a:t>
            </a:r>
            <a:endParaRPr lang="en-US" sz="1400" dirty="0"/>
          </a:p>
        </p:txBody>
      </p:sp>
      <p:sp>
        <p:nvSpPr>
          <p:cNvPr id="27" name="Arrow harness-aws"/>
          <p:cNvSpPr/>
          <p:nvPr/>
        </p:nvSpPr>
        <p:spPr>
          <a:xfrm>
            <a:off x="3840480" y="5550408"/>
            <a:ext cx="64008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8" name="Arrow aws-library"/>
          <p:cNvSpPr/>
          <p:nvPr/>
        </p:nvSpPr>
        <p:spPr>
          <a:xfrm>
            <a:off x="7772400" y="5550408"/>
            <a:ext cx="64008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9" name="Legend Completed"/>
          <p:cNvSpPr/>
          <p:nvPr/>
        </p:nvSpPr>
        <p:spPr>
          <a:xfrm>
            <a:off x="6400800" y="3520440"/>
            <a:ext cx="292608" cy="21945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Legend text Completed"/>
          <p:cNvSpPr txBox="1"/>
          <p:nvPr/>
        </p:nvSpPr>
        <p:spPr>
          <a:xfrm>
            <a:off x="6784848" y="34747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Completed</a:t>
            </a:r>
            <a:endParaRPr lang="en-US" sz="1200" dirty="0"/>
          </a:p>
        </p:txBody>
      </p:sp>
      <p:sp>
        <p:nvSpPr>
          <p:cNvPr id="31" name="Legend In progress"/>
          <p:cNvSpPr/>
          <p:nvPr/>
        </p:nvSpPr>
        <p:spPr>
          <a:xfrm>
            <a:off x="6400800" y="3849624"/>
            <a:ext cx="292608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Legend text In progress"/>
          <p:cNvSpPr txBox="1"/>
          <p:nvPr/>
        </p:nvSpPr>
        <p:spPr>
          <a:xfrm>
            <a:off x="6784848" y="38039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 progress</a:t>
            </a:r>
            <a:endParaRPr lang="en-US" sz="1200" dirty="0"/>
          </a:p>
        </p:txBody>
      </p:sp>
      <p:sp>
        <p:nvSpPr>
          <p:cNvPr id="33" name="Legend Planned"/>
          <p:cNvSpPr/>
          <p:nvPr/>
        </p:nvSpPr>
        <p:spPr>
          <a:xfrm>
            <a:off x="6400800" y="4178808"/>
            <a:ext cx="292608" cy="21945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34" name="Legend text Planned"/>
          <p:cNvSpPr txBox="1"/>
          <p:nvPr/>
        </p:nvSpPr>
        <p:spPr>
          <a:xfrm>
            <a:off x="6784848" y="413308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Planned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Implementation: plain Python, verified and reproducible</a:t>
            </a:r>
            <a:endParaRPr lang="en-US" sz="3200" dirty="0"/>
          </a:p>
        </p:txBody>
      </p:sp>
      <p:graphicFrame>
        <p:nvGraphicFramePr>
          <p:cNvPr id="6" name="Tec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035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Role in the project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Python 3 + NumPy, Pandas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Simulator, workloads, metrics (about 2,100 lines in 17 files)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Discrete-event simulation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Priority queue of events; seeded, so every run is reproducible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Own statistics code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Exact Wilcoxon, Holm correction, Student-t without SciPy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Matplotlib + Seaborn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 plots per run, including a Pareto front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Boto3 + fake SQS client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Real-queue replication; offline fake for testing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unittest + git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98 tests; hypotheses committed before each run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ode card"/>
          <p:cNvSpPr/>
          <p:nvPr/>
        </p:nvSpPr>
        <p:spPr>
          <a:xfrm>
            <a:off x="6949440" y="1325880"/>
            <a:ext cx="4663440" cy="4297680"/>
          </a:xfrm>
          <a:prstGeom prst="roundRect">
            <a:avLst>
              <a:gd name="adj" fmla="val 170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33">
                <a:alpha val="12000"/>
              </a:srgbClr>
            </a:outerShdw>
          </a:effectLst>
        </p:spPr>
      </p:sp>
      <p:sp>
        <p:nvSpPr>
          <p:cNvPr id="5" name="Code caption"/>
          <p:cNvSpPr txBox="1"/>
          <p:nvPr/>
        </p:nvSpPr>
        <p:spPr>
          <a:xfrm>
            <a:off x="717804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Cost-aware percentile (src/policies/adaptive_percentile.py)</a:t>
            </a:r>
            <a:endParaRPr lang="en-US" sz="1200" dirty="0"/>
          </a:p>
        </p:txBody>
      </p:sp>
      <p:sp>
        <p:nvSpPr>
          <p:cNvPr id="6" name="Code snippet"/>
          <p:cNvSpPr txBox="1"/>
          <p:nvPr/>
        </p:nvSpPr>
        <p:spPr>
          <a:xfrm>
            <a:off x="7178040" y="196596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target_quantile(self):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self.cost_ratio is None: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self.percentile / 100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self.failure_rate()  # learned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1 - p * self.cost_ratio / (1 - 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low, high = self.quantile_bounds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min(high, max(low, q))</a:t>
            </a:r>
            <a:endParaRPr lang="en-US" sz="1250" dirty="0"/>
          </a:p>
        </p:txBody>
      </p:sp>
      <p:sp>
        <p:nvSpPr>
          <p:cNvPr id="7" name="Code takeaway"/>
          <p:cNvSpPr txBox="1"/>
          <p:nvPr/>
        </p:nvSpPr>
        <p:spPr>
          <a:xfrm>
            <a:off x="7178040" y="43434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At 8% crashes and equal costs, q = 0.91: almost exactly P90. Rarer crashes give a higher percentile.</a:t>
            </a:r>
            <a:endParaRPr lang="en-US" sz="1400" dirty="0"/>
          </a:p>
        </p:txBody>
      </p:sp>
      <p:sp>
        <p:nvSpPr>
          <p:cNvPr id="8" name="Run command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everything: python -m src.experiment --config configs/full.json --output results/full --plots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Progress: five phases complete, real-AWS run next</a:t>
            </a:r>
            <a:endParaRPr lang="en-US" sz="3200" dirty="0"/>
          </a:p>
        </p:txBody>
      </p:sp>
      <p:sp>
        <p:nvSpPr>
          <p:cNvPr id="3" name="Completed card"/>
          <p:cNvSpPr/>
          <p:nvPr/>
        </p:nvSpPr>
        <p:spPr>
          <a:xfrm>
            <a:off x="548640" y="1325880"/>
            <a:ext cx="3566160" cy="43434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33">
                <a:alpha val="12000"/>
              </a:srgbClr>
            </a:outerShdw>
          </a:effectLst>
        </p:spPr>
      </p:sp>
      <p:sp>
        <p:nvSpPr>
          <p:cNvPr id="4" name="Completed circle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omplete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640434"/>
            <a:ext cx="285293" cy="285293"/>
          </a:xfrm>
          <a:prstGeom prst="rect">
            <a:avLst/>
          </a:prstGeom>
        </p:spPr>
      </p:pic>
      <p:sp>
        <p:nvSpPr>
          <p:cNvPr id="6" name="Completed heading"/>
          <p:cNvSpPr txBox="1"/>
          <p:nvPr/>
        </p:nvSpPr>
        <p:spPr>
          <a:xfrm>
            <a:off x="146304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Completed</a:t>
            </a:r>
            <a:endParaRPr lang="en-US" sz="1800" dirty="0"/>
          </a:p>
        </p:txBody>
      </p:sp>
      <p:sp>
        <p:nvSpPr>
          <p:cNvPr id="7" name="Completed list"/>
          <p:cNvSpPr txBox="1"/>
          <p:nvPr/>
        </p:nvSpPr>
        <p:spPr>
          <a:xfrm>
            <a:off x="777240" y="22402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Phase 1: fixed a job-losing dispatch bug; paired failures; correct intervals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Phase 2: realistic baseline, 20 seeds, paired tests, sweeps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Phase 3: adaptive heartbeat, hung-worker model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Phase 4: cost-aware, conformal, change detection, dynamic budget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Phase 5: DLQ, poison, latency, jitter, outages; simulator verification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Replication harness (tested offline)</a:t>
            </a:r>
            <a:endParaRPr lang="en-US" sz="1300" dirty="0"/>
          </a:p>
        </p:txBody>
      </p:sp>
      <p:sp>
        <p:nvSpPr>
          <p:cNvPr id="8" name="In progress card"/>
          <p:cNvSpPr/>
          <p:nvPr/>
        </p:nvSpPr>
        <p:spPr>
          <a:xfrm>
            <a:off x="4297680" y="1325880"/>
            <a:ext cx="3566160" cy="43434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33">
                <a:alpha val="12000"/>
              </a:srgbClr>
            </a:outerShdw>
          </a:effectLst>
        </p:spPr>
      </p:sp>
      <p:sp>
        <p:nvSpPr>
          <p:cNvPr id="9" name="In progress circle"/>
          <p:cNvSpPr/>
          <p:nvPr/>
        </p:nvSpPr>
        <p:spPr>
          <a:xfrm>
            <a:off x="452628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n progres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54" y="1640434"/>
            <a:ext cx="285293" cy="285293"/>
          </a:xfrm>
          <a:prstGeom prst="rect">
            <a:avLst/>
          </a:prstGeom>
        </p:spPr>
      </p:pic>
      <p:sp>
        <p:nvSpPr>
          <p:cNvPr id="11" name="In progress heading"/>
          <p:cNvSpPr txBox="1"/>
          <p:nvPr/>
        </p:nvSpPr>
        <p:spPr>
          <a:xfrm>
            <a:off x="521208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 progress</a:t>
            </a:r>
            <a:endParaRPr lang="en-US" sz="1800" dirty="0"/>
          </a:p>
        </p:txBody>
      </p:sp>
      <p:sp>
        <p:nvSpPr>
          <p:cNvPr id="12" name="In progress list"/>
          <p:cNvSpPr txBox="1"/>
          <p:nvPr/>
        </p:nvSpPr>
        <p:spPr>
          <a:xfrm>
            <a:off x="4526280" y="22402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Real SQS replication: harness and checklist ready; needs an AWS account and an empty test queue</a:t>
            </a:r>
            <a:endParaRPr lang="en-US" sz="1300" dirty="0"/>
          </a:p>
        </p:txBody>
      </p:sp>
      <p:sp>
        <p:nvSpPr>
          <p:cNvPr id="13" name="Planned card"/>
          <p:cNvSpPr/>
          <p:nvPr/>
        </p:nvSpPr>
        <p:spPr>
          <a:xfrm>
            <a:off x="8046720" y="1325880"/>
            <a:ext cx="3566160" cy="434340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33">
                <a:alpha val="12000"/>
              </a:srgbClr>
            </a:outerShdw>
          </a:effectLst>
        </p:spPr>
      </p:sp>
      <p:sp>
        <p:nvSpPr>
          <p:cNvPr id="14" name="Planned circle"/>
          <p:cNvSpPr/>
          <p:nvPr/>
        </p:nvSpPr>
        <p:spPr>
          <a:xfrm>
            <a:off x="8275320" y="1508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Planne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994" y="1640434"/>
            <a:ext cx="285293" cy="285293"/>
          </a:xfrm>
          <a:prstGeom prst="rect">
            <a:avLst/>
          </a:prstGeom>
        </p:spPr>
      </p:pic>
      <p:sp>
        <p:nvSpPr>
          <p:cNvPr id="16" name="Planned heading"/>
          <p:cNvSpPr txBox="1"/>
          <p:nvPr/>
        </p:nvSpPr>
        <p:spPr>
          <a:xfrm>
            <a:off x="896112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Planned</a:t>
            </a:r>
            <a:endParaRPr lang="en-US" sz="1800" dirty="0"/>
          </a:p>
        </p:txBody>
      </p:sp>
      <p:sp>
        <p:nvSpPr>
          <p:cNvPr id="17" name="Planned list"/>
          <p:cNvSpPr txBox="1"/>
          <p:nvPr/>
        </p:nvSpPr>
        <p:spPr>
          <a:xfrm>
            <a:off x="8275320" y="224028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Re-test post hoc hypotheses H1-H4 on fresh seeds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Calibrate the cost ratio for full-attempt duplicate cost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Censoring-aware estimation (optional)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Worker library with a DynamoDB idempotency ledger</a:t>
            </a:r>
            <a:endParaRPr lang="en-US" sz="1300" dirty="0"/>
          </a:p>
        </p:txBody>
      </p:sp>
      <p:sp>
        <p:nvSpPr>
          <p:cNvPr id="18" name="Stat declared hypotheses supported"/>
          <p:cNvSpPr txBox="1"/>
          <p:nvPr/>
        </p:nvSpPr>
        <p:spPr>
          <a:xfrm>
            <a:off x="548640" y="5715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18 / 18</a:t>
            </a:r>
            <a:endParaRPr lang="en-US" sz="2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declared hypotheses supported</a:t>
            </a:r>
            <a:endParaRPr lang="en-US" sz="2600" dirty="0"/>
          </a:p>
        </p:txBody>
      </p:sp>
      <p:sp>
        <p:nvSpPr>
          <p:cNvPr id="19" name="Stat tests passing"/>
          <p:cNvSpPr txBox="1"/>
          <p:nvPr/>
        </p:nvSpPr>
        <p:spPr>
          <a:xfrm>
            <a:off x="3360420" y="5715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98</a:t>
            </a:r>
            <a:endParaRPr lang="en-US" sz="2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tests passing</a:t>
            </a:r>
            <a:endParaRPr lang="en-US" sz="2600" dirty="0"/>
          </a:p>
        </p:txBody>
      </p:sp>
      <p:sp>
        <p:nvSpPr>
          <p:cNvPr id="20" name="Stat scenarios"/>
          <p:cNvSpPr txBox="1"/>
          <p:nvPr/>
        </p:nvSpPr>
        <p:spPr>
          <a:xfrm>
            <a:off x="6172200" y="5715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28</a:t>
            </a:r>
            <a:endParaRPr lang="en-US" sz="2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scenarios</a:t>
            </a:r>
            <a:endParaRPr lang="en-US" sz="2600" dirty="0"/>
          </a:p>
        </p:txBody>
      </p:sp>
      <p:sp>
        <p:nvSpPr>
          <p:cNvPr id="21" name="Stat simulation runs"/>
          <p:cNvSpPr txBox="1"/>
          <p:nvPr/>
        </p:nvSpPr>
        <p:spPr>
          <a:xfrm>
            <a:off x="8983980" y="5715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7,060</a:t>
            </a:r>
            <a:endParaRPr lang="en-US" sz="26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simulation runs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Results: 18 of 18 declared hypotheses supported</a:t>
            </a:r>
            <a:endParaRPr lang="en-US" sz="3200" dirty="0"/>
          </a:p>
        </p:txBody>
      </p:sp>
      <p:graphicFrame>
        <p:nvGraphicFramePr>
          <p:cNvPr id="3" name="Trade-off chart" descr=""/>
          <p:cNvGraphicFramePr/>
          <p:nvPr/>
        </p:nvGraphicFramePr>
        <p:xfrm>
          <a:off x="548640" y="12801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0"/>
          <p:cNvSpPr/>
          <p:nvPr/>
        </p:nvSpPr>
        <p:spPr>
          <a:xfrm>
            <a:off x="7680960" y="1325880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33">
                <a:alpha val="12000"/>
              </a:srgbClr>
            </a:outerShdw>
          </a:effectLst>
        </p:spPr>
      </p:sp>
      <p:sp>
        <p:nvSpPr>
          <p:cNvPr id="5" name="Callout text 0"/>
          <p:cNvSpPr txBox="1"/>
          <p:nvPr/>
        </p:nvSpPr>
        <p:spPr>
          <a:xfrm>
            <a:off x="7863840" y="137160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20.6% → 5.9%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duplicates after a workload shift: pre-tuned timeout vs adaptive P90 (H1)</a:t>
            </a:r>
            <a:endParaRPr lang="en-US" sz="2400" dirty="0"/>
          </a:p>
        </p:txBody>
      </p:sp>
      <p:sp>
        <p:nvSpPr>
          <p:cNvPr id="6" name="Callout 1"/>
          <p:cNvSpPr/>
          <p:nvPr/>
        </p:nvSpPr>
        <p:spPr>
          <a:xfrm>
            <a:off x="7680960" y="2807208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33">
                <a:alpha val="12000"/>
              </a:srgbClr>
            </a:outerShdw>
          </a:effectLst>
        </p:spPr>
      </p:sp>
      <p:sp>
        <p:nvSpPr>
          <p:cNvPr id="7" name="Callout text 1"/>
          <p:cNvSpPr txBox="1"/>
          <p:nvPr/>
        </p:nvSpPr>
        <p:spPr>
          <a:xfrm>
            <a:off x="7863840" y="2852928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16.3 s → 10.1 s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hung-job recovery, fixed vs adaptive heartbeat; duplicates 2.3% → 0.2%</a:t>
            </a:r>
            <a:endParaRPr lang="en-US" sz="2400" dirty="0"/>
          </a:p>
        </p:txBody>
      </p:sp>
      <p:sp>
        <p:nvSpPr>
          <p:cNvPr id="8" name="Callout 2"/>
          <p:cNvSpPr/>
          <p:nvPr/>
        </p:nvSpPr>
        <p:spPr>
          <a:xfrm>
            <a:off x="7680960" y="4288536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33">
                <a:alpha val="12000"/>
              </a:srgbClr>
            </a:outerShdw>
          </a:effectLst>
        </p:spPr>
      </p:sp>
      <p:sp>
        <p:nvSpPr>
          <p:cNvPr id="9" name="Callout text 2"/>
          <p:cNvSpPr txBox="1"/>
          <p:nvPr/>
        </p:nvSpPr>
        <p:spPr>
          <a:xfrm>
            <a:off x="7863840" y="4334256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23% vs ≤ 0.15%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healthy jobs wrongly dead-lettered: 3 s fixed vs per-class timeouts (maxReceiveCount 2)</a:t>
            </a:r>
            <a:endParaRPr lang="en-US" sz="2400" dirty="0"/>
          </a:p>
        </p:txBody>
      </p:sp>
      <p:sp>
        <p:nvSpPr>
          <p:cNvPr id="10" name="Results caveat"/>
          <p:cNvSpPr txBox="1"/>
          <p:nvPr/>
        </p:nvSpPr>
        <p:spPr>
          <a:xfrm>
            <a:off x="7680960" y="5806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Simulation results (realistic settings: latency, jitter, uneven workers, outages, DLQ); not a real-AWS benchmark.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the evidence shows, and where it stops</a:t>
            </a:r>
            <a:endParaRPr lang="en-US" sz="3200" dirty="0"/>
          </a:p>
        </p:txBody>
      </p:sp>
      <p:sp>
        <p:nvSpPr>
          <p:cNvPr id="3" name="Findings card"/>
          <p:cNvSpPr/>
          <p:nvPr/>
        </p:nvSpPr>
        <p:spPr>
          <a:xfrm>
            <a:off x="548640" y="1325880"/>
            <a:ext cx="5440680" cy="3977640"/>
          </a:xfrm>
          <a:prstGeom prst="roundRect">
            <a:avLst>
              <a:gd name="adj" fmla="val 18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33">
                <a:alpha val="12000"/>
              </a:srgbClr>
            </a:outerShdw>
          </a:effectLst>
        </p:spPr>
      </p:sp>
      <p:sp>
        <p:nvSpPr>
          <p:cNvPr id="4" name="Findings circle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inding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640434"/>
            <a:ext cx="285293" cy="285293"/>
          </a:xfrm>
          <a:prstGeom prst="rect">
            <a:avLst/>
          </a:prstGeom>
        </p:spPr>
      </p:pic>
      <p:sp>
        <p:nvSpPr>
          <p:cNvPr id="6" name="Findings heading"/>
          <p:cNvSpPr txBox="1"/>
          <p:nvPr/>
        </p:nvSpPr>
        <p:spPr>
          <a:xfrm>
            <a:off x="146304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Confirmed in simulation</a:t>
            </a:r>
            <a:endParaRPr lang="en-US" sz="1800" dirty="0"/>
          </a:p>
        </p:txBody>
      </p:sp>
      <p:sp>
        <p:nvSpPr>
          <p:cNvPr id="7" name="Findings list"/>
          <p:cNvSpPr txBox="1"/>
          <p:nvPr/>
        </p:nvSpPr>
        <p:spPr>
          <a:xfrm>
            <a:off x="777240" y="21945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early "adaptive loses" result came from bugs, an oracle baseline and cold start.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Adaptive heartbeat beats fixed heartbeat on mixed and shifting workloads, from 0% to 20% hangs.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P90 is near-optimal at about 8% crashes; the cost formula explains why.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Conformal timeouts covered 89-91% of jobs (target 90%); 83% after a shift.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Results survive latency, jitter, uneven workers, outages and a DLQ.</a:t>
            </a:r>
            <a:endParaRPr lang="en-US" sz="1400" dirty="0"/>
          </a:p>
        </p:txBody>
      </p:sp>
      <p:sp>
        <p:nvSpPr>
          <p:cNvPr id="8" name="Limits card"/>
          <p:cNvSpPr/>
          <p:nvPr/>
        </p:nvSpPr>
        <p:spPr>
          <a:xfrm>
            <a:off x="6172200" y="1325880"/>
            <a:ext cx="5440680" cy="3977640"/>
          </a:xfrm>
          <a:prstGeom prst="roundRect">
            <a:avLst>
              <a:gd name="adj" fmla="val 18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F2A33">
                <a:alpha val="12000"/>
              </a:srgbClr>
            </a:outerShdw>
          </a:effectLst>
        </p:spPr>
      </p:sp>
      <p:sp>
        <p:nvSpPr>
          <p:cNvPr id="9" name="Limits circle"/>
          <p:cNvSpPr/>
          <p:nvPr/>
        </p:nvSpPr>
        <p:spPr>
          <a:xfrm>
            <a:off x="6400800" y="1508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Limit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1640434"/>
            <a:ext cx="285293" cy="285293"/>
          </a:xfrm>
          <a:prstGeom prst="rect">
            <a:avLst/>
          </a:prstGeom>
        </p:spPr>
      </p:pic>
      <p:sp>
        <p:nvSpPr>
          <p:cNvPr id="11" name="Limits heading"/>
          <p:cNvSpPr txBox="1"/>
          <p:nvPr/>
        </p:nvSpPr>
        <p:spPr>
          <a:xfrm>
            <a:off x="708660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Limitations and open issues</a:t>
            </a:r>
            <a:endParaRPr lang="en-US" sz="1800" dirty="0"/>
          </a:p>
        </p:txBody>
      </p:sp>
      <p:sp>
        <p:nvSpPr>
          <p:cNvPr id="12" name="Limits list"/>
          <p:cNvSpPr txBox="1"/>
          <p:nvPr/>
        </p:nvSpPr>
        <p:spPr>
          <a:xfrm>
            <a:off x="6400800" y="21945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Simulation only: no real-AWS run yet.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Heavy-tailed jobs with hung workers: fixed heartbeat stays ahead; every variant tried sits on the same trade-off curve.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Cost ratio not calibrated; a cost-aware heartbeat budget was tested and rejected.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assumptions: constant latency, hangs end at lease expiry, worker health observable.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H1-H4 were declared after their effects were seen.</a:t>
            </a:r>
            <a:endParaRPr lang="en-US" sz="1400" dirty="0"/>
          </a:p>
        </p:txBody>
      </p:sp>
      <p:sp>
        <p:nvSpPr>
          <p:cNvPr id="13" name="Objective status"/>
          <p:cNvSpPr txBox="1"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Objective status: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met in simulation for mixed and shifting workloads; not met for heavy-tailed workloads with hung workers; real-world validation pending.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Next steps, in priority order</a:t>
            </a:r>
            <a:endParaRPr lang="en-US" sz="3200" dirty="0"/>
          </a:p>
        </p:txBody>
      </p:sp>
      <p:sp>
        <p:nvSpPr>
          <p:cNvPr id="3" name="Step 1 circle"/>
          <p:cNvSpPr/>
          <p:nvPr/>
        </p:nvSpPr>
        <p:spPr>
          <a:xfrm>
            <a:off x="548640" y="132588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548640" y="1325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tep 1 text"/>
          <p:cNvSpPr txBox="1"/>
          <p:nvPr/>
        </p:nvSpPr>
        <p:spPr>
          <a:xfrm>
            <a:off x="1463040" y="125272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Real-SQS replication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a test queue and IAM role, run the ready harness (~5 min, inside the free tier), compare real vs simulated duplicates and recovery.</a:t>
            </a:r>
            <a:endParaRPr lang="en-US" sz="1700" dirty="0"/>
          </a:p>
        </p:txBody>
      </p:sp>
      <p:sp>
        <p:nvSpPr>
          <p:cNvPr id="6" name="Step 2 circle"/>
          <p:cNvSpPr/>
          <p:nvPr/>
        </p:nvSpPr>
        <p:spPr>
          <a:xfrm>
            <a:off x="548640" y="2304288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tep 2 number"/>
          <p:cNvSpPr txBox="1"/>
          <p:nvPr/>
        </p:nvSpPr>
        <p:spPr>
          <a:xfrm>
            <a:off x="548640" y="23042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Step 2 text"/>
          <p:cNvSpPr txBox="1"/>
          <p:nvPr/>
        </p:nvSpPr>
        <p:spPr>
          <a:xfrm>
            <a:off x="1463040" y="2231136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Fresh-seed confirmation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Re-run H1-H4 on new seeds so every headline claim is a prediction, not a re-test.</a:t>
            </a:r>
            <a:endParaRPr lang="en-US" sz="1700" dirty="0"/>
          </a:p>
        </p:txBody>
      </p:sp>
      <p:sp>
        <p:nvSpPr>
          <p:cNvPr id="9" name="Step 3 circle"/>
          <p:cNvSpPr/>
          <p:nvPr/>
        </p:nvSpPr>
        <p:spPr>
          <a:xfrm>
            <a:off x="548640" y="3282696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 3 number"/>
          <p:cNvSpPr txBox="1"/>
          <p:nvPr/>
        </p:nvSpPr>
        <p:spPr>
          <a:xfrm>
            <a:off x="548640" y="32826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Step 3 text"/>
          <p:cNvSpPr txBox="1"/>
          <p:nvPr/>
        </p:nvSpPr>
        <p:spPr>
          <a:xfrm>
            <a:off x="1463040" y="3209544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Cost calibration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Re-derive the optimal quantile for full-attempt duplicate cost, or calibrate the ratio on tuning seeds.</a:t>
            </a:r>
            <a:endParaRPr lang="en-US" sz="1700" dirty="0"/>
          </a:p>
        </p:txBody>
      </p:sp>
      <p:sp>
        <p:nvSpPr>
          <p:cNvPr id="12" name="Step 4 circle"/>
          <p:cNvSpPr/>
          <p:nvPr/>
        </p:nvSpPr>
        <p:spPr>
          <a:xfrm>
            <a:off x="548640" y="4261104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 4 number"/>
          <p:cNvSpPr txBox="1"/>
          <p:nvPr/>
        </p:nvSpPr>
        <p:spPr>
          <a:xfrm>
            <a:off x="548640" y="42611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Step 4 text"/>
          <p:cNvSpPr txBox="1"/>
          <p:nvPr/>
        </p:nvSpPr>
        <p:spPr>
          <a:xfrm>
            <a:off x="1463040" y="418795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Heavy-tail guidance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Publish the trade-off curve so operators can choose a budget for their own cost of duplicates vs delays.</a:t>
            </a:r>
            <a:endParaRPr lang="en-US" sz="1700" dirty="0"/>
          </a:p>
        </p:txBody>
      </p:sp>
      <p:sp>
        <p:nvSpPr>
          <p:cNvPr id="15" name="Step 5 circle"/>
          <p:cNvSpPr/>
          <p:nvPr/>
        </p:nvSpPr>
        <p:spPr>
          <a:xfrm>
            <a:off x="548640" y="5239512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Step 5 number"/>
          <p:cNvSpPr txBox="1"/>
          <p:nvPr/>
        </p:nvSpPr>
        <p:spPr>
          <a:xfrm>
            <a:off x="548640" y="52395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17" name="Step 5 text"/>
          <p:cNvSpPr txBox="1"/>
          <p:nvPr/>
        </p:nvSpPr>
        <p:spPr>
          <a:xfrm>
            <a:off x="1463040" y="516636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Packaging (optional)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Worker library with a DynamoDB idempotency ledger and CloudWatch metrics.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Takeaway Problem circle"/>
          <p:cNvSpPr/>
          <p:nvPr/>
        </p:nvSpPr>
        <p:spPr>
          <a:xfrm>
            <a:off x="640080" y="1463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akeaway 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356616" cy="356616"/>
          </a:xfrm>
          <a:prstGeom prst="rect">
            <a:avLst/>
          </a:prstGeom>
        </p:spPr>
      </p:pic>
      <p:sp>
        <p:nvSpPr>
          <p:cNvPr id="5" name="Takeaway text Problem"/>
          <p:cNvSpPr txBox="1"/>
          <p:nvPr/>
        </p:nvSpPr>
        <p:spPr>
          <a:xfrm>
            <a:off x="1554480" y="13716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Problem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One fixed SQS timeout either duplicates work or delays recovery, and goes stale as workloads change.</a:t>
            </a:r>
            <a:endParaRPr lang="en-US" sz="1800" dirty="0"/>
          </a:p>
        </p:txBody>
      </p:sp>
      <p:sp>
        <p:nvSpPr>
          <p:cNvPr id="6" name="Takeaway Solution circle"/>
          <p:cNvSpPr/>
          <p:nvPr/>
        </p:nvSpPr>
        <p:spPr>
          <a:xfrm>
            <a:off x="640080" y="254203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Takeaway Soluti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06624"/>
            <a:ext cx="356616" cy="356616"/>
          </a:xfrm>
          <a:prstGeom prst="rect">
            <a:avLst/>
          </a:prstGeom>
        </p:spPr>
      </p:pic>
      <p:sp>
        <p:nvSpPr>
          <p:cNvPr id="8" name="Takeaway text Solution"/>
          <p:cNvSpPr txBox="1"/>
          <p:nvPr/>
        </p:nvSpPr>
        <p:spPr>
          <a:xfrm>
            <a:off x="1554480" y="245059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Solution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Interpretable per-job-type controllers: learned lease, adaptive heartbeat, cost-aware and conformal quantiles, change detection.</a:t>
            </a:r>
            <a:endParaRPr lang="en-US" sz="1800" dirty="0"/>
          </a:p>
        </p:txBody>
      </p:sp>
      <p:sp>
        <p:nvSpPr>
          <p:cNvPr id="9" name="Takeaway Evidence circle"/>
          <p:cNvSpPr/>
          <p:nvPr/>
        </p:nvSpPr>
        <p:spPr>
          <a:xfrm>
            <a:off x="640080" y="3621024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Takeaway Evidenc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785616"/>
            <a:ext cx="356616" cy="356616"/>
          </a:xfrm>
          <a:prstGeom prst="rect">
            <a:avLst/>
          </a:prstGeom>
        </p:spPr>
      </p:pic>
      <p:sp>
        <p:nvSpPr>
          <p:cNvPr id="11" name="Takeaway text Evidence"/>
          <p:cNvSpPr txBox="1"/>
          <p:nvPr/>
        </p:nvSpPr>
        <p:spPr>
          <a:xfrm>
            <a:off x="1554480" y="3529584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Evidence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18 of 18 declared hypotheses supported over 20 paired seeds, including under realistic simulation.</a:t>
            </a:r>
            <a:endParaRPr lang="en-US" sz="1800" dirty="0"/>
          </a:p>
        </p:txBody>
      </p:sp>
      <p:sp>
        <p:nvSpPr>
          <p:cNvPr id="12" name="Takeaway Status and next milestone circle"/>
          <p:cNvSpPr/>
          <p:nvPr/>
        </p:nvSpPr>
        <p:spPr>
          <a:xfrm>
            <a:off x="640080" y="4700016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Takeaway Status and next mileston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864608"/>
            <a:ext cx="356616" cy="356616"/>
          </a:xfrm>
          <a:prstGeom prst="rect">
            <a:avLst/>
          </a:prstGeom>
        </p:spPr>
      </p:pic>
      <p:sp>
        <p:nvSpPr>
          <p:cNvPr id="14" name="Takeaway text Status and next milestone"/>
          <p:cNvSpPr txBox="1"/>
          <p:nvPr/>
        </p:nvSpPr>
        <p:spPr>
          <a:xfrm>
            <a:off x="1554480" y="4608576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Status and next milestone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Five phases complete; next is the small real-SQS replication with the ready harness.</a:t>
            </a:r>
            <a:endParaRPr lang="en-US" sz="1800" dirty="0"/>
          </a:p>
        </p:txBody>
      </p:sp>
      <p:sp>
        <p:nvSpPr>
          <p:cNvPr id="15" name="Final contribution"/>
          <p:cNvSpPr txBox="1"/>
          <p:nvPr/>
        </p:nvSpPr>
        <p:spPr>
          <a:xfrm>
            <a:off x="640080" y="5806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Expected final contribution: evidence-backed rules for choosing SQS visibility timeouts, with a clear map of where adaptation helps and where a fixed heartbeat remains the better choice.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aptive SQS">
  <a:themeElements>
    <a:clrScheme name="Adaptive SQS">
      <a:dk1>
        <a:srgbClr val="1F2A33"/>
      </a:dk1>
      <a:lt1>
        <a:srgbClr val="FFFFFF"/>
      </a:lt1>
      <a:dk2>
        <a:srgbClr val="0B3C49"/>
      </a:dk2>
      <a:lt2>
        <a:srgbClr val="EEF4F5"/>
      </a:lt2>
      <a:accent1>
        <a:srgbClr val="13807A"/>
      </a:accent1>
      <a:accent2>
        <a:srgbClr val="F2A541"/>
      </a:accent2>
      <a:accent3>
        <a:srgbClr val="5C7C8A"/>
      </a:accent3>
      <a:accent4>
        <a:srgbClr val="C8553D"/>
      </a:accent4>
      <a:accent5>
        <a:srgbClr val="9BC4BF"/>
      </a:accent5>
      <a:accent6>
        <a:srgbClr val="2E5E6E"/>
      </a:accent6>
      <a:hlink>
        <a:srgbClr val="13807A"/>
      </a:hlink>
      <a:folHlink>
        <a:srgbClr val="5C7C8A"/>
      </a:folHlink>
    </a:clrScheme>
    <a:fontScheme name="Adaptive SQ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SQS Visibility Timeout Controller: Progress Review</dc:title>
  <dc:subject>PptxGenJS Presentation</dc:subject>
  <dc:creator>Adaptive SQS project team</dc:creator>
  <cp:lastModifiedBy>Adaptive SQS project team</cp:lastModifiedBy>
  <cp:revision>1</cp:revision>
  <dcterms:created xsi:type="dcterms:W3CDTF">2026-10-16T01:14:31Z</dcterms:created>
  <dcterms:modified xsi:type="dcterms:W3CDTF">2026-10-16T01:14:31Z</dcterms:modified>
</cp:coreProperties>
</file>